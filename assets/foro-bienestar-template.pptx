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9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8288000" cy="10287000"/>
  <p:notesSz cx="6858000" cy="9144000"/>
  <p:embeddedFontLst>
    <p:embeddedFont>
      <p:font typeface="Arimo Bold" panose="020B0604020202020204" charset="0"/>
      <p:regular r:id="rId10"/>
    </p:embeddedFont>
    <p:embeddedFont>
      <p:font typeface="Calibri" panose="020F0502020204030204" pitchFamily="34" charset="0"/>
      <p:regular r:id="rId11"/>
      <p:bold r:id="rId12"/>
      <p:italic r:id="rId13"/>
      <p:boldItalic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2" d="100"/>
          <a:sy n="72" d="100"/>
        </p:scale>
        <p:origin x="654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29.07.2026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‹Nº›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1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2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3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4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5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6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7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18" Type="http://schemas.openxmlformats.org/officeDocument/2006/relationships/image" Target="../media/image16.svg"/><Relationship Id="rId3" Type="http://schemas.openxmlformats.org/officeDocument/2006/relationships/image" Target="../media/image1.jpe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svg"/><Relationship Id="rId20" Type="http://schemas.openxmlformats.org/officeDocument/2006/relationships/image" Target="../media/image18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10" Type="http://schemas.openxmlformats.org/officeDocument/2006/relationships/image" Target="../media/image8.svg"/><Relationship Id="rId19" Type="http://schemas.openxmlformats.org/officeDocument/2006/relationships/image" Target="../media/image17.png"/><Relationship Id="rId4" Type="http://schemas.openxmlformats.org/officeDocument/2006/relationships/image" Target="../media/image2.jpeg"/><Relationship Id="rId9" Type="http://schemas.openxmlformats.org/officeDocument/2006/relationships/image" Target="../media/image7.png"/><Relationship Id="rId14" Type="http://schemas.openxmlformats.org/officeDocument/2006/relationships/image" Target="../media/image12.svg"/><Relationship Id="rId22" Type="http://schemas.openxmlformats.org/officeDocument/2006/relationships/image" Target="../media/image20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1.jpe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11" Type="http://schemas.openxmlformats.org/officeDocument/2006/relationships/image" Target="../media/image24.png"/><Relationship Id="rId5" Type="http://schemas.openxmlformats.org/officeDocument/2006/relationships/image" Target="../media/image3.png"/><Relationship Id="rId10" Type="http://schemas.openxmlformats.org/officeDocument/2006/relationships/image" Target="../media/image23.png"/><Relationship Id="rId4" Type="http://schemas.openxmlformats.org/officeDocument/2006/relationships/image" Target="../media/image2.jpeg"/><Relationship Id="rId9" Type="http://schemas.openxmlformats.org/officeDocument/2006/relationships/image" Target="../media/image2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.jpe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.jpeg"/><Relationship Id="rId7" Type="http://schemas.openxmlformats.org/officeDocument/2006/relationships/image" Target="../media/image4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7.png"/><Relationship Id="rId4" Type="http://schemas.openxmlformats.org/officeDocument/2006/relationships/image" Target="../media/image2.jpeg"/><Relationship Id="rId9" Type="http://schemas.openxmlformats.org/officeDocument/2006/relationships/image" Target="../media/image2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1.jpe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10" Type="http://schemas.openxmlformats.org/officeDocument/2006/relationships/image" Target="../media/image33.png"/><Relationship Id="rId4" Type="http://schemas.openxmlformats.org/officeDocument/2006/relationships/image" Target="../media/image2.jpeg"/><Relationship Id="rId9" Type="http://schemas.openxmlformats.org/officeDocument/2006/relationships/image" Target="../media/image3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1.jpe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1.jpe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4" Type="http://schemas.openxmlformats.org/officeDocument/2006/relationships/image" Target="../media/image2.jpeg"/><Relationship Id="rId9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914400" y="585216"/>
            <a:ext cx="16459200" cy="548640"/>
            <a:chOff x="0" y="0"/>
            <a:chExt cx="21945600" cy="73152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945600" cy="731520"/>
            </a:xfrm>
            <a:custGeom>
              <a:avLst/>
              <a:gdLst/>
              <a:ahLst/>
              <a:cxnLst/>
              <a:rect l="l" t="t" r="r" b="b"/>
              <a:pathLst>
                <a:path w="21945600" h="73152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34144" b="-534145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914400" y="570928"/>
            <a:ext cx="16459200" cy="562928"/>
            <a:chOff x="0" y="0"/>
            <a:chExt cx="21945600" cy="75057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945600" cy="750570"/>
            </a:xfrm>
            <a:custGeom>
              <a:avLst/>
              <a:gdLst/>
              <a:ahLst/>
              <a:cxnLst/>
              <a:rect l="l" t="t" r="r" b="b"/>
              <a:pathLst>
                <a:path w="21945600" h="750570">
                  <a:moveTo>
                    <a:pt x="0" y="0"/>
                  </a:moveTo>
                  <a:lnTo>
                    <a:pt x="21945600" y="0"/>
                  </a:lnTo>
                  <a:lnTo>
                    <a:pt x="21945600" y="750570"/>
                  </a:lnTo>
                  <a:lnTo>
                    <a:pt x="0" y="7505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19714" b="-519714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2194560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 spc="399">
                  <a:solidFill>
                    <a:srgbClr val="E3000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INDICADOR 1 DE 6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69264" y="938279"/>
            <a:ext cx="16459200" cy="1139085"/>
            <a:chOff x="0" y="0"/>
            <a:chExt cx="21945600" cy="151878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945600" cy="1518793"/>
            </a:xfrm>
            <a:custGeom>
              <a:avLst/>
              <a:gdLst/>
              <a:ahLst/>
              <a:cxnLst/>
              <a:rect l="l" t="t" r="r" b="b"/>
              <a:pathLst>
                <a:path w="21945600" h="1518793">
                  <a:moveTo>
                    <a:pt x="0" y="0"/>
                  </a:moveTo>
                  <a:lnTo>
                    <a:pt x="21945600" y="0"/>
                  </a:lnTo>
                  <a:lnTo>
                    <a:pt x="21945600" y="1518793"/>
                  </a:lnTo>
                  <a:lnTo>
                    <a:pt x="0" y="151879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1351" b="-231350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969264" y="909704"/>
            <a:ext cx="16459200" cy="1167660"/>
            <a:chOff x="0" y="0"/>
            <a:chExt cx="21945600" cy="155688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1945600" cy="1556875"/>
            </a:xfrm>
            <a:custGeom>
              <a:avLst/>
              <a:gdLst/>
              <a:ahLst/>
              <a:cxnLst/>
              <a:rect l="l" t="t" r="r" b="b"/>
              <a:pathLst>
                <a:path w="21945600" h="1556875">
                  <a:moveTo>
                    <a:pt x="0" y="0"/>
                  </a:moveTo>
                  <a:lnTo>
                    <a:pt x="21945600" y="0"/>
                  </a:lnTo>
                  <a:lnTo>
                    <a:pt x="21945600" y="1556875"/>
                  </a:lnTo>
                  <a:lnTo>
                    <a:pt x="0" y="155687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24659" b="-224659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1945600" cy="15949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718"/>
                </a:lnSpc>
              </a:pPr>
              <a:r>
                <a:rPr lang="en-US" sz="5599" b="1">
                  <a:solidFill>
                    <a:srgbClr val="111C3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Vacantes — Plaza Oaxaca</a:t>
              </a:r>
            </a:p>
          </p:txBody>
        </p:sp>
      </p:grpSp>
      <p:sp>
        <p:nvSpPr>
          <p:cNvPr id="13" name="Freeform 13"/>
          <p:cNvSpPr/>
          <p:nvPr/>
        </p:nvSpPr>
        <p:spPr>
          <a:xfrm>
            <a:off x="16711298" y="672722"/>
            <a:ext cx="1141762" cy="629698"/>
          </a:xfrm>
          <a:custGeom>
            <a:avLst/>
            <a:gdLst/>
            <a:ahLst/>
            <a:cxnLst/>
            <a:rect l="l" t="t" r="r" b="b"/>
            <a:pathLst>
              <a:path w="1141762" h="629698">
                <a:moveTo>
                  <a:pt x="0" y="0"/>
                </a:moveTo>
                <a:lnTo>
                  <a:pt x="1141762" y="0"/>
                </a:lnTo>
                <a:lnTo>
                  <a:pt x="1141762" y="629698"/>
                </a:lnTo>
                <a:lnTo>
                  <a:pt x="0" y="6296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14" name="Group 14"/>
          <p:cNvGrpSpPr/>
          <p:nvPr/>
        </p:nvGrpSpPr>
        <p:grpSpPr>
          <a:xfrm>
            <a:off x="16733520" y="694944"/>
            <a:ext cx="1097280" cy="585216"/>
            <a:chOff x="0" y="0"/>
            <a:chExt cx="1463040" cy="78028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463040" cy="780288"/>
            </a:xfrm>
            <a:custGeom>
              <a:avLst/>
              <a:gdLst/>
              <a:ahLst/>
              <a:cxnLst/>
              <a:rect l="l" t="t" r="r" b="b"/>
              <a:pathLst>
                <a:path w="1463040" h="780288">
                  <a:moveTo>
                    <a:pt x="0" y="0"/>
                  </a:moveTo>
                  <a:lnTo>
                    <a:pt x="1463040" y="0"/>
                  </a:lnTo>
                  <a:lnTo>
                    <a:pt x="14630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476" r="-18475"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>
            <a:off x="16733520" y="687800"/>
            <a:ext cx="1097280" cy="592360"/>
            <a:chOff x="0" y="0"/>
            <a:chExt cx="1463040" cy="78981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463040" cy="789813"/>
            </a:xfrm>
            <a:custGeom>
              <a:avLst/>
              <a:gdLst/>
              <a:ahLst/>
              <a:cxnLst/>
              <a:rect l="l" t="t" r="r" b="b"/>
              <a:pathLst>
                <a:path w="1463040" h="789813">
                  <a:moveTo>
                    <a:pt x="0" y="0"/>
                  </a:moveTo>
                  <a:lnTo>
                    <a:pt x="1463040" y="0"/>
                  </a:lnTo>
                  <a:lnTo>
                    <a:pt x="1463040" y="789813"/>
                  </a:lnTo>
                  <a:lnTo>
                    <a:pt x="0" y="78981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9263" r="-19263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9525"/>
              <a:ext cx="1463040" cy="7993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1/7</a:t>
              </a:r>
            </a:p>
          </p:txBody>
        </p:sp>
      </p:grpSp>
      <p:sp>
        <p:nvSpPr>
          <p:cNvPr id="19" name="Freeform 19"/>
          <p:cNvSpPr/>
          <p:nvPr/>
        </p:nvSpPr>
        <p:spPr>
          <a:xfrm>
            <a:off x="892178" y="2026034"/>
            <a:ext cx="3299746" cy="1964722"/>
          </a:xfrm>
          <a:custGeom>
            <a:avLst/>
            <a:gdLst/>
            <a:ahLst/>
            <a:cxnLst/>
            <a:rect l="l" t="t" r="r" b="b"/>
            <a:pathLst>
              <a:path w="3299746" h="1964722">
                <a:moveTo>
                  <a:pt x="0" y="0"/>
                </a:moveTo>
                <a:lnTo>
                  <a:pt x="3299746" y="0"/>
                </a:lnTo>
                <a:lnTo>
                  <a:pt x="3299746" y="1964722"/>
                </a:lnTo>
                <a:lnTo>
                  <a:pt x="0" y="196472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184786" y="2300354"/>
            <a:ext cx="245650" cy="245650"/>
          </a:xfrm>
          <a:custGeom>
            <a:avLst/>
            <a:gdLst/>
            <a:ahLst/>
            <a:cxnLst/>
            <a:rect l="l" t="t" r="r" b="b"/>
            <a:pathLst>
              <a:path w="245650" h="245650">
                <a:moveTo>
                  <a:pt x="0" y="0"/>
                </a:moveTo>
                <a:lnTo>
                  <a:pt x="245650" y="0"/>
                </a:lnTo>
                <a:lnTo>
                  <a:pt x="245650" y="245650"/>
                </a:lnTo>
                <a:lnTo>
                  <a:pt x="0" y="24565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grpSp>
        <p:nvGrpSpPr>
          <p:cNvPr id="21" name="Group 21"/>
          <p:cNvGrpSpPr/>
          <p:nvPr/>
        </p:nvGrpSpPr>
        <p:grpSpPr>
          <a:xfrm>
            <a:off x="1499616" y="2212848"/>
            <a:ext cx="2432304" cy="402336"/>
            <a:chOff x="0" y="0"/>
            <a:chExt cx="3243072" cy="53644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243072" cy="536448"/>
            </a:xfrm>
            <a:custGeom>
              <a:avLst/>
              <a:gdLst/>
              <a:ahLst/>
              <a:cxnLst/>
              <a:rect l="l" t="t" r="r" b="b"/>
              <a:pathLst>
                <a:path w="3243072" h="536448">
                  <a:moveTo>
                    <a:pt x="0" y="0"/>
                  </a:moveTo>
                  <a:lnTo>
                    <a:pt x="3243072" y="0"/>
                  </a:lnTo>
                  <a:lnTo>
                    <a:pt x="3243072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7713" b="-67715"/>
              </a:stretch>
            </a:blipFill>
          </p:spPr>
        </p:sp>
      </p:grpSp>
      <p:grpSp>
        <p:nvGrpSpPr>
          <p:cNvPr id="23" name="Group 23"/>
          <p:cNvGrpSpPr/>
          <p:nvPr/>
        </p:nvGrpSpPr>
        <p:grpSpPr>
          <a:xfrm>
            <a:off x="1499616" y="2198560"/>
            <a:ext cx="2432304" cy="416624"/>
            <a:chOff x="0" y="0"/>
            <a:chExt cx="3243072" cy="555498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3243072" cy="555498"/>
            </a:xfrm>
            <a:custGeom>
              <a:avLst/>
              <a:gdLst/>
              <a:ahLst/>
              <a:cxnLst/>
              <a:rect l="l" t="t" r="r" b="b"/>
              <a:pathLst>
                <a:path w="3243072" h="555498">
                  <a:moveTo>
                    <a:pt x="0" y="0"/>
                  </a:moveTo>
                  <a:lnTo>
                    <a:pt x="3243072" y="0"/>
                  </a:lnTo>
                  <a:lnTo>
                    <a:pt x="3243072" y="555498"/>
                  </a:lnTo>
                  <a:lnTo>
                    <a:pt x="0" y="55549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63756" b="-63756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-19050"/>
              <a:ext cx="3243072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b="1" spc="100">
                  <a:solidFill>
                    <a:srgbClr val="6B728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TOTAL VACANTES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207008" y="3493008"/>
            <a:ext cx="2706624" cy="365760"/>
            <a:chOff x="0" y="0"/>
            <a:chExt cx="3608832" cy="48768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3608832" cy="487680"/>
            </a:xfrm>
            <a:custGeom>
              <a:avLst/>
              <a:gdLst/>
              <a:ahLst/>
              <a:cxnLst/>
              <a:rect l="l" t="t" r="r" b="b"/>
              <a:pathLst>
                <a:path w="3608832" h="487680">
                  <a:moveTo>
                    <a:pt x="0" y="0"/>
                  </a:moveTo>
                  <a:lnTo>
                    <a:pt x="3608832" y="0"/>
                  </a:lnTo>
                  <a:lnTo>
                    <a:pt x="3608832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4088" b="-94088"/>
              </a:stretch>
            </a:blipFill>
          </p:spPr>
        </p:sp>
      </p:grpSp>
      <p:grpSp>
        <p:nvGrpSpPr>
          <p:cNvPr id="28" name="Group 28"/>
          <p:cNvGrpSpPr/>
          <p:nvPr/>
        </p:nvGrpSpPr>
        <p:grpSpPr>
          <a:xfrm>
            <a:off x="1207008" y="3478721"/>
            <a:ext cx="2706624" cy="380047"/>
            <a:chOff x="0" y="0"/>
            <a:chExt cx="3608832" cy="50673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3608832" cy="506730"/>
            </a:xfrm>
            <a:custGeom>
              <a:avLst/>
              <a:gdLst/>
              <a:ahLst/>
              <a:cxnLst/>
              <a:rect l="l" t="t" r="r" b="b"/>
              <a:pathLst>
                <a:path w="3608832" h="506730">
                  <a:moveTo>
                    <a:pt x="0" y="0"/>
                  </a:moveTo>
                  <a:lnTo>
                    <a:pt x="3608832" y="0"/>
                  </a:lnTo>
                  <a:lnTo>
                    <a:pt x="3608832" y="506730"/>
                  </a:lnTo>
                  <a:lnTo>
                    <a:pt x="0" y="50673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88768" b="-88768"/>
              </a:stretch>
            </a:blipFill>
          </p:spPr>
        </p:sp>
        <p:sp>
          <p:nvSpPr>
            <p:cNvPr id="30" name="TextBox 30"/>
            <p:cNvSpPr txBox="1"/>
            <p:nvPr/>
          </p:nvSpPr>
          <p:spPr>
            <a:xfrm>
              <a:off x="0" y="-19050"/>
              <a:ext cx="3608832" cy="5257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b="1">
                  <a:solidFill>
                    <a:srgbClr val="E3000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9 asesores afectados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4901184" y="2212848"/>
            <a:ext cx="2432304" cy="402336"/>
            <a:chOff x="0" y="0"/>
            <a:chExt cx="3243072" cy="536448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3243072" cy="536448"/>
            </a:xfrm>
            <a:custGeom>
              <a:avLst/>
              <a:gdLst/>
              <a:ahLst/>
              <a:cxnLst/>
              <a:rect l="l" t="t" r="r" b="b"/>
              <a:pathLst>
                <a:path w="3243072" h="536448">
                  <a:moveTo>
                    <a:pt x="0" y="0"/>
                  </a:moveTo>
                  <a:lnTo>
                    <a:pt x="3243072" y="0"/>
                  </a:lnTo>
                  <a:lnTo>
                    <a:pt x="3243072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7713" b="-67715"/>
              </a:stretch>
            </a:blipFill>
          </p:spPr>
        </p:sp>
      </p:grpSp>
      <p:grpSp>
        <p:nvGrpSpPr>
          <p:cNvPr id="38" name="Group 38"/>
          <p:cNvGrpSpPr/>
          <p:nvPr/>
        </p:nvGrpSpPr>
        <p:grpSpPr>
          <a:xfrm>
            <a:off x="4608576" y="3493008"/>
            <a:ext cx="2706624" cy="365760"/>
            <a:chOff x="0" y="0"/>
            <a:chExt cx="3608832" cy="48768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3608832" cy="487680"/>
            </a:xfrm>
            <a:custGeom>
              <a:avLst/>
              <a:gdLst/>
              <a:ahLst/>
              <a:cxnLst/>
              <a:rect l="l" t="t" r="r" b="b"/>
              <a:pathLst>
                <a:path w="3608832" h="487680">
                  <a:moveTo>
                    <a:pt x="0" y="0"/>
                  </a:moveTo>
                  <a:lnTo>
                    <a:pt x="3608832" y="0"/>
                  </a:lnTo>
                  <a:lnTo>
                    <a:pt x="3608832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4088" b="-94088"/>
              </a:stretch>
            </a:blipFill>
          </p:spPr>
        </p:sp>
      </p:grpSp>
      <p:sp>
        <p:nvSpPr>
          <p:cNvPr id="41" name="Freeform 41"/>
          <p:cNvSpPr/>
          <p:nvPr/>
        </p:nvSpPr>
        <p:spPr>
          <a:xfrm>
            <a:off x="4608576" y="3478721"/>
            <a:ext cx="2706624" cy="380047"/>
          </a:xfrm>
          <a:custGeom>
            <a:avLst/>
            <a:gdLst/>
            <a:ahLst/>
            <a:cxnLst/>
            <a:rect l="l" t="t" r="r" b="b"/>
            <a:pathLst>
              <a:path w="3608832" h="506730">
                <a:moveTo>
                  <a:pt x="0" y="0"/>
                </a:moveTo>
                <a:lnTo>
                  <a:pt x="3608832" y="0"/>
                </a:lnTo>
                <a:lnTo>
                  <a:pt x="3608832" y="506730"/>
                </a:lnTo>
                <a:lnTo>
                  <a:pt x="0" y="506730"/>
                </a:lnTo>
                <a:close/>
              </a:path>
            </a:pathLst>
          </a:custGeom>
          <a:blipFill>
            <a:blip r:embed="rId4">
              <a:alphaModFix amt="0"/>
            </a:blip>
            <a:stretch>
              <a:fillRect t="-88768" b="-88768"/>
            </a:stretch>
          </a:blipFill>
        </p:spPr>
      </p:sp>
      <p:sp>
        <p:nvSpPr>
          <p:cNvPr id="43" name="Freeform 43"/>
          <p:cNvSpPr/>
          <p:nvPr/>
        </p:nvSpPr>
        <p:spPr>
          <a:xfrm>
            <a:off x="4506754" y="2025258"/>
            <a:ext cx="3299746" cy="1964722"/>
          </a:xfrm>
          <a:custGeom>
            <a:avLst/>
            <a:gdLst/>
            <a:ahLst/>
            <a:cxnLst/>
            <a:rect l="l" t="t" r="r" b="b"/>
            <a:pathLst>
              <a:path w="3299746" h="1964722">
                <a:moveTo>
                  <a:pt x="0" y="0"/>
                </a:moveTo>
                <a:lnTo>
                  <a:pt x="3299746" y="0"/>
                </a:lnTo>
                <a:lnTo>
                  <a:pt x="3299746" y="1964722"/>
                </a:lnTo>
                <a:lnTo>
                  <a:pt x="0" y="196472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44" name="Freeform 44"/>
          <p:cNvSpPr/>
          <p:nvPr/>
        </p:nvSpPr>
        <p:spPr>
          <a:xfrm>
            <a:off x="4799362" y="2299578"/>
            <a:ext cx="245650" cy="245650"/>
          </a:xfrm>
          <a:custGeom>
            <a:avLst/>
            <a:gdLst/>
            <a:ahLst/>
            <a:cxnLst/>
            <a:rect l="l" t="t" r="r" b="b"/>
            <a:pathLst>
              <a:path w="245650" h="245650">
                <a:moveTo>
                  <a:pt x="0" y="0"/>
                </a:moveTo>
                <a:lnTo>
                  <a:pt x="245650" y="0"/>
                </a:lnTo>
                <a:lnTo>
                  <a:pt x="245650" y="245650"/>
                </a:lnTo>
                <a:lnTo>
                  <a:pt x="0" y="24565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grpSp>
        <p:nvGrpSpPr>
          <p:cNvPr id="45" name="Group 45"/>
          <p:cNvGrpSpPr/>
          <p:nvPr/>
        </p:nvGrpSpPr>
        <p:grpSpPr>
          <a:xfrm>
            <a:off x="8302752" y="2212848"/>
            <a:ext cx="2432304" cy="402336"/>
            <a:chOff x="0" y="0"/>
            <a:chExt cx="3243072" cy="536448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3243072" cy="536448"/>
            </a:xfrm>
            <a:custGeom>
              <a:avLst/>
              <a:gdLst/>
              <a:ahLst/>
              <a:cxnLst/>
              <a:rect l="l" t="t" r="r" b="b"/>
              <a:pathLst>
                <a:path w="3243072" h="536448">
                  <a:moveTo>
                    <a:pt x="0" y="0"/>
                  </a:moveTo>
                  <a:lnTo>
                    <a:pt x="3243072" y="0"/>
                  </a:lnTo>
                  <a:lnTo>
                    <a:pt x="3243072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7713" b="-67715"/>
              </a:stretch>
            </a:blipFill>
          </p:spPr>
        </p:sp>
      </p:grpSp>
      <p:grpSp>
        <p:nvGrpSpPr>
          <p:cNvPr id="47" name="Group 47"/>
          <p:cNvGrpSpPr/>
          <p:nvPr/>
        </p:nvGrpSpPr>
        <p:grpSpPr>
          <a:xfrm>
            <a:off x="5114192" y="2197784"/>
            <a:ext cx="2432304" cy="416624"/>
            <a:chOff x="0" y="0"/>
            <a:chExt cx="3243072" cy="555498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3243072" cy="555498"/>
            </a:xfrm>
            <a:custGeom>
              <a:avLst/>
              <a:gdLst/>
              <a:ahLst/>
              <a:cxnLst/>
              <a:rect l="l" t="t" r="r" b="b"/>
              <a:pathLst>
                <a:path w="3243072" h="555498">
                  <a:moveTo>
                    <a:pt x="0" y="0"/>
                  </a:moveTo>
                  <a:lnTo>
                    <a:pt x="3243072" y="0"/>
                  </a:lnTo>
                  <a:lnTo>
                    <a:pt x="3243072" y="555498"/>
                  </a:lnTo>
                  <a:lnTo>
                    <a:pt x="0" y="55549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63756" b="-63756"/>
              </a:stretch>
            </a:blipFill>
          </p:spPr>
        </p:sp>
        <p:sp>
          <p:nvSpPr>
            <p:cNvPr id="49" name="TextBox 49"/>
            <p:cNvSpPr txBox="1"/>
            <p:nvPr/>
          </p:nvSpPr>
          <p:spPr>
            <a:xfrm>
              <a:off x="0" y="-19050"/>
              <a:ext cx="3243072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b="1" spc="100">
                  <a:solidFill>
                    <a:srgbClr val="6B728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ENCARGADO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8010144" y="3493008"/>
            <a:ext cx="2706624" cy="365760"/>
            <a:chOff x="0" y="0"/>
            <a:chExt cx="3608832" cy="48768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3608832" cy="487680"/>
            </a:xfrm>
            <a:custGeom>
              <a:avLst/>
              <a:gdLst/>
              <a:ahLst/>
              <a:cxnLst/>
              <a:rect l="l" t="t" r="r" b="b"/>
              <a:pathLst>
                <a:path w="3608832" h="487680">
                  <a:moveTo>
                    <a:pt x="0" y="0"/>
                  </a:moveTo>
                  <a:lnTo>
                    <a:pt x="3608832" y="0"/>
                  </a:lnTo>
                  <a:lnTo>
                    <a:pt x="3608832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4088" b="-94088"/>
              </a:stretch>
            </a:blipFill>
          </p:spPr>
        </p:sp>
      </p:grpSp>
      <p:grpSp>
        <p:nvGrpSpPr>
          <p:cNvPr id="52" name="Group 52"/>
          <p:cNvGrpSpPr/>
          <p:nvPr/>
        </p:nvGrpSpPr>
        <p:grpSpPr>
          <a:xfrm>
            <a:off x="4821584" y="3477945"/>
            <a:ext cx="2706624" cy="380047"/>
            <a:chOff x="0" y="0"/>
            <a:chExt cx="3608832" cy="50673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3608832" cy="506730"/>
            </a:xfrm>
            <a:custGeom>
              <a:avLst/>
              <a:gdLst/>
              <a:ahLst/>
              <a:cxnLst/>
              <a:rect l="l" t="t" r="r" b="b"/>
              <a:pathLst>
                <a:path w="3608832" h="506730">
                  <a:moveTo>
                    <a:pt x="0" y="0"/>
                  </a:moveTo>
                  <a:lnTo>
                    <a:pt x="3608832" y="0"/>
                  </a:lnTo>
                  <a:lnTo>
                    <a:pt x="3608832" y="506730"/>
                  </a:lnTo>
                  <a:lnTo>
                    <a:pt x="0" y="50673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88768" b="-88768"/>
              </a:stretch>
            </a:blipFill>
          </p:spPr>
        </p:sp>
        <p:sp>
          <p:nvSpPr>
            <p:cNvPr id="54" name="TextBox 54"/>
            <p:cNvSpPr txBox="1"/>
            <p:nvPr/>
          </p:nvSpPr>
          <p:spPr>
            <a:xfrm>
              <a:off x="0" y="-19050"/>
              <a:ext cx="3608832" cy="5257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b="1">
                  <a:solidFill>
                    <a:srgbClr val="F2994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Media prioridad</a:t>
              </a:r>
            </a:p>
          </p:txBody>
        </p:sp>
      </p:grpSp>
      <p:sp>
        <p:nvSpPr>
          <p:cNvPr id="55" name="Freeform 55"/>
          <p:cNvSpPr/>
          <p:nvPr/>
        </p:nvSpPr>
        <p:spPr>
          <a:xfrm>
            <a:off x="8126693" y="2038383"/>
            <a:ext cx="3299746" cy="1964722"/>
          </a:xfrm>
          <a:custGeom>
            <a:avLst/>
            <a:gdLst/>
            <a:ahLst/>
            <a:cxnLst/>
            <a:rect l="l" t="t" r="r" b="b"/>
            <a:pathLst>
              <a:path w="3299746" h="1964722">
                <a:moveTo>
                  <a:pt x="0" y="0"/>
                </a:moveTo>
                <a:lnTo>
                  <a:pt x="3299746" y="0"/>
                </a:lnTo>
                <a:lnTo>
                  <a:pt x="3299746" y="1964722"/>
                </a:lnTo>
                <a:lnTo>
                  <a:pt x="0" y="196472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56" name="Freeform 56"/>
          <p:cNvSpPr/>
          <p:nvPr/>
        </p:nvSpPr>
        <p:spPr>
          <a:xfrm>
            <a:off x="8419301" y="2312703"/>
            <a:ext cx="245650" cy="245650"/>
          </a:xfrm>
          <a:custGeom>
            <a:avLst/>
            <a:gdLst/>
            <a:ahLst/>
            <a:cxnLst/>
            <a:rect l="l" t="t" r="r" b="b"/>
            <a:pathLst>
              <a:path w="245650" h="245650">
                <a:moveTo>
                  <a:pt x="0" y="0"/>
                </a:moveTo>
                <a:lnTo>
                  <a:pt x="245650" y="0"/>
                </a:lnTo>
                <a:lnTo>
                  <a:pt x="245650" y="245650"/>
                </a:lnTo>
                <a:lnTo>
                  <a:pt x="0" y="24565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grpSp>
        <p:nvGrpSpPr>
          <p:cNvPr id="57" name="Group 57"/>
          <p:cNvGrpSpPr/>
          <p:nvPr/>
        </p:nvGrpSpPr>
        <p:grpSpPr>
          <a:xfrm>
            <a:off x="11704320" y="2212848"/>
            <a:ext cx="2432304" cy="402336"/>
            <a:chOff x="0" y="0"/>
            <a:chExt cx="3243072" cy="536448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3243072" cy="536448"/>
            </a:xfrm>
            <a:custGeom>
              <a:avLst/>
              <a:gdLst/>
              <a:ahLst/>
              <a:cxnLst/>
              <a:rect l="l" t="t" r="r" b="b"/>
              <a:pathLst>
                <a:path w="3243072" h="536448">
                  <a:moveTo>
                    <a:pt x="0" y="0"/>
                  </a:moveTo>
                  <a:lnTo>
                    <a:pt x="3243072" y="0"/>
                  </a:lnTo>
                  <a:lnTo>
                    <a:pt x="3243072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7713" b="-67715"/>
              </a:stretch>
            </a:blipFill>
          </p:spPr>
        </p:sp>
      </p:grpSp>
      <p:grpSp>
        <p:nvGrpSpPr>
          <p:cNvPr id="59" name="Group 59"/>
          <p:cNvGrpSpPr/>
          <p:nvPr/>
        </p:nvGrpSpPr>
        <p:grpSpPr>
          <a:xfrm>
            <a:off x="8734131" y="2210909"/>
            <a:ext cx="2432304" cy="416624"/>
            <a:chOff x="0" y="0"/>
            <a:chExt cx="3243072" cy="555498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3243072" cy="555498"/>
            </a:xfrm>
            <a:custGeom>
              <a:avLst/>
              <a:gdLst/>
              <a:ahLst/>
              <a:cxnLst/>
              <a:rect l="l" t="t" r="r" b="b"/>
              <a:pathLst>
                <a:path w="3243072" h="555498">
                  <a:moveTo>
                    <a:pt x="0" y="0"/>
                  </a:moveTo>
                  <a:lnTo>
                    <a:pt x="3243072" y="0"/>
                  </a:lnTo>
                  <a:lnTo>
                    <a:pt x="3243072" y="555498"/>
                  </a:lnTo>
                  <a:lnTo>
                    <a:pt x="0" y="55549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63756" b="-63756"/>
              </a:stretch>
            </a:blipFill>
          </p:spPr>
        </p:sp>
        <p:sp>
          <p:nvSpPr>
            <p:cNvPr id="61" name="TextBox 61"/>
            <p:cNvSpPr txBox="1"/>
            <p:nvPr/>
          </p:nvSpPr>
          <p:spPr>
            <a:xfrm>
              <a:off x="0" y="-19050"/>
              <a:ext cx="3243072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b="1" spc="100">
                  <a:solidFill>
                    <a:srgbClr val="6B728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AYUDANTE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11411712" y="3493008"/>
            <a:ext cx="2706624" cy="365760"/>
            <a:chOff x="0" y="0"/>
            <a:chExt cx="3608832" cy="487680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3608832" cy="487680"/>
            </a:xfrm>
            <a:custGeom>
              <a:avLst/>
              <a:gdLst/>
              <a:ahLst/>
              <a:cxnLst/>
              <a:rect l="l" t="t" r="r" b="b"/>
              <a:pathLst>
                <a:path w="3608832" h="487680">
                  <a:moveTo>
                    <a:pt x="0" y="0"/>
                  </a:moveTo>
                  <a:lnTo>
                    <a:pt x="3608832" y="0"/>
                  </a:lnTo>
                  <a:lnTo>
                    <a:pt x="3608832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4088" b="-94088"/>
              </a:stretch>
            </a:blipFill>
          </p:spPr>
        </p:sp>
      </p:grpSp>
      <p:grpSp>
        <p:nvGrpSpPr>
          <p:cNvPr id="64" name="Group 64"/>
          <p:cNvGrpSpPr/>
          <p:nvPr/>
        </p:nvGrpSpPr>
        <p:grpSpPr>
          <a:xfrm>
            <a:off x="8441523" y="3491070"/>
            <a:ext cx="2706624" cy="380047"/>
            <a:chOff x="0" y="0"/>
            <a:chExt cx="3608832" cy="506730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3608832" cy="506730"/>
            </a:xfrm>
            <a:custGeom>
              <a:avLst/>
              <a:gdLst/>
              <a:ahLst/>
              <a:cxnLst/>
              <a:rect l="l" t="t" r="r" b="b"/>
              <a:pathLst>
                <a:path w="3608832" h="506730">
                  <a:moveTo>
                    <a:pt x="0" y="0"/>
                  </a:moveTo>
                  <a:lnTo>
                    <a:pt x="3608832" y="0"/>
                  </a:lnTo>
                  <a:lnTo>
                    <a:pt x="3608832" y="506730"/>
                  </a:lnTo>
                  <a:lnTo>
                    <a:pt x="0" y="50673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88768" b="-88768"/>
              </a:stretch>
            </a:blipFill>
          </p:spPr>
        </p:sp>
        <p:sp>
          <p:nvSpPr>
            <p:cNvPr id="66" name="TextBox 66"/>
            <p:cNvSpPr txBox="1"/>
            <p:nvPr/>
          </p:nvSpPr>
          <p:spPr>
            <a:xfrm>
              <a:off x="0" y="-19050"/>
              <a:ext cx="3608832" cy="5257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b="1">
                  <a:solidFill>
                    <a:srgbClr val="F2994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Seguimiento</a:t>
              </a:r>
            </a:p>
          </p:txBody>
        </p:sp>
      </p:grpSp>
      <p:sp>
        <p:nvSpPr>
          <p:cNvPr id="67" name="Freeform 67"/>
          <p:cNvSpPr/>
          <p:nvPr/>
        </p:nvSpPr>
        <p:spPr>
          <a:xfrm>
            <a:off x="11822243" y="2010680"/>
            <a:ext cx="3299746" cy="1964722"/>
          </a:xfrm>
          <a:custGeom>
            <a:avLst/>
            <a:gdLst/>
            <a:ahLst/>
            <a:cxnLst/>
            <a:rect l="l" t="t" r="r" b="b"/>
            <a:pathLst>
              <a:path w="3299746" h="1964722">
                <a:moveTo>
                  <a:pt x="0" y="0"/>
                </a:moveTo>
                <a:lnTo>
                  <a:pt x="3299746" y="0"/>
                </a:lnTo>
                <a:lnTo>
                  <a:pt x="3299746" y="1964722"/>
                </a:lnTo>
                <a:lnTo>
                  <a:pt x="0" y="196472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8" name="Freeform 68"/>
          <p:cNvSpPr/>
          <p:nvPr/>
        </p:nvSpPr>
        <p:spPr>
          <a:xfrm>
            <a:off x="12114851" y="2285000"/>
            <a:ext cx="245650" cy="245650"/>
          </a:xfrm>
          <a:custGeom>
            <a:avLst/>
            <a:gdLst/>
            <a:ahLst/>
            <a:cxnLst/>
            <a:rect l="l" t="t" r="r" b="b"/>
            <a:pathLst>
              <a:path w="245650" h="245650">
                <a:moveTo>
                  <a:pt x="0" y="0"/>
                </a:moveTo>
                <a:lnTo>
                  <a:pt x="245650" y="0"/>
                </a:lnTo>
                <a:lnTo>
                  <a:pt x="245650" y="245650"/>
                </a:lnTo>
                <a:lnTo>
                  <a:pt x="0" y="24565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grpSp>
        <p:nvGrpSpPr>
          <p:cNvPr id="69" name="Group 69"/>
          <p:cNvGrpSpPr/>
          <p:nvPr/>
        </p:nvGrpSpPr>
        <p:grpSpPr>
          <a:xfrm>
            <a:off x="15105888" y="2212848"/>
            <a:ext cx="2432304" cy="402336"/>
            <a:chOff x="0" y="0"/>
            <a:chExt cx="3243072" cy="536448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3243072" cy="536448"/>
            </a:xfrm>
            <a:custGeom>
              <a:avLst/>
              <a:gdLst/>
              <a:ahLst/>
              <a:cxnLst/>
              <a:rect l="l" t="t" r="r" b="b"/>
              <a:pathLst>
                <a:path w="3243072" h="536448">
                  <a:moveTo>
                    <a:pt x="0" y="0"/>
                  </a:moveTo>
                  <a:lnTo>
                    <a:pt x="3243072" y="0"/>
                  </a:lnTo>
                  <a:lnTo>
                    <a:pt x="3243072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7713" b="-67715"/>
              </a:stretch>
            </a:blipFill>
          </p:spPr>
        </p:sp>
      </p:grpSp>
      <p:grpSp>
        <p:nvGrpSpPr>
          <p:cNvPr id="71" name="Group 71"/>
          <p:cNvGrpSpPr/>
          <p:nvPr/>
        </p:nvGrpSpPr>
        <p:grpSpPr>
          <a:xfrm>
            <a:off x="12429681" y="2183206"/>
            <a:ext cx="2432304" cy="416624"/>
            <a:chOff x="0" y="0"/>
            <a:chExt cx="3243072" cy="555498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3243072" cy="555498"/>
            </a:xfrm>
            <a:custGeom>
              <a:avLst/>
              <a:gdLst/>
              <a:ahLst/>
              <a:cxnLst/>
              <a:rect l="l" t="t" r="r" b="b"/>
              <a:pathLst>
                <a:path w="3243072" h="555498">
                  <a:moveTo>
                    <a:pt x="0" y="0"/>
                  </a:moveTo>
                  <a:lnTo>
                    <a:pt x="3243072" y="0"/>
                  </a:lnTo>
                  <a:lnTo>
                    <a:pt x="3243072" y="555498"/>
                  </a:lnTo>
                  <a:lnTo>
                    <a:pt x="0" y="55549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63756" b="-63756"/>
              </a:stretch>
            </a:blipFill>
          </p:spPr>
        </p:sp>
        <p:sp>
          <p:nvSpPr>
            <p:cNvPr id="73" name="TextBox 73"/>
            <p:cNvSpPr txBox="1"/>
            <p:nvPr/>
          </p:nvSpPr>
          <p:spPr>
            <a:xfrm>
              <a:off x="0" y="-19050"/>
              <a:ext cx="3243072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b="1" spc="100">
                  <a:solidFill>
                    <a:srgbClr val="6B728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MÁS ANTIGUA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14813280" y="3493008"/>
            <a:ext cx="2706624" cy="365760"/>
            <a:chOff x="0" y="0"/>
            <a:chExt cx="3608832" cy="487680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3608832" cy="487680"/>
            </a:xfrm>
            <a:custGeom>
              <a:avLst/>
              <a:gdLst/>
              <a:ahLst/>
              <a:cxnLst/>
              <a:rect l="l" t="t" r="r" b="b"/>
              <a:pathLst>
                <a:path w="3608832" h="487680">
                  <a:moveTo>
                    <a:pt x="0" y="0"/>
                  </a:moveTo>
                  <a:lnTo>
                    <a:pt x="3608832" y="0"/>
                  </a:lnTo>
                  <a:lnTo>
                    <a:pt x="3608832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4088" b="-94088"/>
              </a:stretch>
            </a:blipFill>
          </p:spPr>
        </p:sp>
      </p:grpSp>
      <p:grpSp>
        <p:nvGrpSpPr>
          <p:cNvPr id="76" name="Group 76"/>
          <p:cNvGrpSpPr/>
          <p:nvPr/>
        </p:nvGrpSpPr>
        <p:grpSpPr>
          <a:xfrm>
            <a:off x="12137073" y="3463367"/>
            <a:ext cx="2706624" cy="380047"/>
            <a:chOff x="0" y="0"/>
            <a:chExt cx="3608832" cy="506730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3608832" cy="506730"/>
            </a:xfrm>
            <a:custGeom>
              <a:avLst/>
              <a:gdLst/>
              <a:ahLst/>
              <a:cxnLst/>
              <a:rect l="l" t="t" r="r" b="b"/>
              <a:pathLst>
                <a:path w="3608832" h="506730">
                  <a:moveTo>
                    <a:pt x="0" y="0"/>
                  </a:moveTo>
                  <a:lnTo>
                    <a:pt x="3608832" y="0"/>
                  </a:lnTo>
                  <a:lnTo>
                    <a:pt x="3608832" y="506730"/>
                  </a:lnTo>
                  <a:lnTo>
                    <a:pt x="0" y="50673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88768" b="-88768"/>
              </a:stretch>
            </a:blipFill>
          </p:spPr>
        </p:sp>
        <p:sp>
          <p:nvSpPr>
            <p:cNvPr id="78" name="TextBox 78"/>
            <p:cNvSpPr txBox="1"/>
            <p:nvPr/>
          </p:nvSpPr>
          <p:spPr>
            <a:xfrm>
              <a:off x="0" y="-19050"/>
              <a:ext cx="3608832" cy="5257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b="1" dirty="0">
                  <a:solidFill>
                    <a:srgbClr val="E3000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OXXO </a:t>
              </a:r>
              <a:r>
                <a:rPr lang="en-US" sz="1500" b="1" dirty="0" err="1">
                  <a:solidFill>
                    <a:srgbClr val="E3000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Amilpas</a:t>
              </a:r>
              <a:r>
                <a:rPr lang="en-US" sz="1500" b="1" dirty="0">
                  <a:solidFill>
                    <a:srgbClr val="E3000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 OAX</a:t>
              </a:r>
            </a:p>
          </p:txBody>
        </p:sp>
      </p:grpSp>
      <p:sp>
        <p:nvSpPr>
          <p:cNvPr id="79" name="Freeform 79"/>
          <p:cNvSpPr/>
          <p:nvPr/>
        </p:nvSpPr>
        <p:spPr>
          <a:xfrm>
            <a:off x="892178" y="4147442"/>
            <a:ext cx="5622226" cy="5439346"/>
          </a:xfrm>
          <a:custGeom>
            <a:avLst/>
            <a:gdLst/>
            <a:ahLst/>
            <a:cxnLst/>
            <a:rect l="l" t="t" r="r" b="b"/>
            <a:pathLst>
              <a:path w="5622226" h="5439346">
                <a:moveTo>
                  <a:pt x="0" y="0"/>
                </a:moveTo>
                <a:lnTo>
                  <a:pt x="5622227" y="0"/>
                </a:lnTo>
                <a:lnTo>
                  <a:pt x="5622227" y="5439347"/>
                </a:lnTo>
                <a:lnTo>
                  <a:pt x="0" y="543934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80" name="Freeform 80"/>
          <p:cNvSpPr/>
          <p:nvPr/>
        </p:nvSpPr>
        <p:spPr>
          <a:xfrm>
            <a:off x="1257938" y="4586354"/>
            <a:ext cx="227362" cy="227266"/>
          </a:xfrm>
          <a:custGeom>
            <a:avLst/>
            <a:gdLst/>
            <a:ahLst/>
            <a:cxnLst/>
            <a:rect l="l" t="t" r="r" b="b"/>
            <a:pathLst>
              <a:path w="227362" h="227266">
                <a:moveTo>
                  <a:pt x="0" y="0"/>
                </a:moveTo>
                <a:lnTo>
                  <a:pt x="227362" y="0"/>
                </a:lnTo>
                <a:lnTo>
                  <a:pt x="227362" y="227267"/>
                </a:lnTo>
                <a:lnTo>
                  <a:pt x="0" y="227267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grpSp>
        <p:nvGrpSpPr>
          <p:cNvPr id="81" name="Group 81"/>
          <p:cNvGrpSpPr/>
          <p:nvPr/>
        </p:nvGrpSpPr>
        <p:grpSpPr>
          <a:xfrm>
            <a:off x="1645920" y="4425696"/>
            <a:ext cx="4389120" cy="512064"/>
            <a:chOff x="0" y="0"/>
            <a:chExt cx="5852160" cy="682752"/>
          </a:xfrm>
        </p:grpSpPr>
        <p:sp>
          <p:nvSpPr>
            <p:cNvPr id="82" name="Freeform 82"/>
            <p:cNvSpPr/>
            <p:nvPr/>
          </p:nvSpPr>
          <p:spPr>
            <a:xfrm>
              <a:off x="0" y="0"/>
              <a:ext cx="5852160" cy="682752"/>
            </a:xfrm>
            <a:custGeom>
              <a:avLst/>
              <a:gdLst/>
              <a:ahLst/>
              <a:cxnLst/>
              <a:rect l="l" t="t" r="r" b="b"/>
              <a:pathLst>
                <a:path w="5852160" h="682752">
                  <a:moveTo>
                    <a:pt x="0" y="0"/>
                  </a:moveTo>
                  <a:lnTo>
                    <a:pt x="5852160" y="0"/>
                  </a:lnTo>
                  <a:lnTo>
                    <a:pt x="58521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6899" b="-116897"/>
              </a:stretch>
            </a:blipFill>
          </p:spPr>
        </p:sp>
      </p:grpSp>
      <p:grpSp>
        <p:nvGrpSpPr>
          <p:cNvPr id="83" name="Group 83"/>
          <p:cNvGrpSpPr/>
          <p:nvPr/>
        </p:nvGrpSpPr>
        <p:grpSpPr>
          <a:xfrm>
            <a:off x="1645920" y="4418552"/>
            <a:ext cx="4389120" cy="519208"/>
            <a:chOff x="0" y="0"/>
            <a:chExt cx="5852160" cy="692277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5852160" cy="692277"/>
            </a:xfrm>
            <a:custGeom>
              <a:avLst/>
              <a:gdLst/>
              <a:ahLst/>
              <a:cxnLst/>
              <a:rect l="l" t="t" r="r" b="b"/>
              <a:pathLst>
                <a:path w="5852160" h="692277">
                  <a:moveTo>
                    <a:pt x="0" y="0"/>
                  </a:moveTo>
                  <a:lnTo>
                    <a:pt x="5852160" y="0"/>
                  </a:lnTo>
                  <a:lnTo>
                    <a:pt x="5852160" y="692277"/>
                  </a:lnTo>
                  <a:lnTo>
                    <a:pt x="0" y="69227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14716" b="-114716"/>
              </a:stretch>
            </a:blipFill>
          </p:spPr>
        </p:sp>
        <p:sp>
          <p:nvSpPr>
            <p:cNvPr id="85" name="TextBox 85"/>
            <p:cNvSpPr txBox="1"/>
            <p:nvPr/>
          </p:nvSpPr>
          <p:spPr>
            <a:xfrm>
              <a:off x="0" y="-9525"/>
              <a:ext cx="5852160" cy="70180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 b="1">
                  <a:solidFill>
                    <a:srgbClr val="111C3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Top 5 · Más Vacantes</a:t>
              </a:r>
            </a:p>
          </p:txBody>
        </p:sp>
      </p:grpSp>
      <p:sp>
        <p:nvSpPr>
          <p:cNvPr id="86" name="Freeform 86"/>
          <p:cNvSpPr/>
          <p:nvPr/>
        </p:nvSpPr>
        <p:spPr>
          <a:xfrm>
            <a:off x="1184786" y="5134994"/>
            <a:ext cx="629698" cy="629698"/>
          </a:xfrm>
          <a:custGeom>
            <a:avLst/>
            <a:gdLst/>
            <a:ahLst/>
            <a:cxnLst/>
            <a:rect l="l" t="t" r="r" b="b"/>
            <a:pathLst>
              <a:path w="629698" h="629698">
                <a:moveTo>
                  <a:pt x="0" y="0"/>
                </a:moveTo>
                <a:lnTo>
                  <a:pt x="629698" y="0"/>
                </a:lnTo>
                <a:lnTo>
                  <a:pt x="629698" y="629698"/>
                </a:lnTo>
                <a:lnTo>
                  <a:pt x="0" y="629698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  <p:grpSp>
        <p:nvGrpSpPr>
          <p:cNvPr id="87" name="Group 87"/>
          <p:cNvGrpSpPr/>
          <p:nvPr/>
        </p:nvGrpSpPr>
        <p:grpSpPr>
          <a:xfrm>
            <a:off x="1207008" y="5157216"/>
            <a:ext cx="585216" cy="585216"/>
            <a:chOff x="0" y="0"/>
            <a:chExt cx="780288" cy="780288"/>
          </a:xfrm>
        </p:grpSpPr>
        <p:sp>
          <p:nvSpPr>
            <p:cNvPr id="88" name="Freeform 88"/>
            <p:cNvSpPr/>
            <p:nvPr/>
          </p:nvSpPr>
          <p:spPr>
            <a:xfrm>
              <a:off x="0" y="0"/>
              <a:ext cx="780288" cy="780288"/>
            </a:xfrm>
            <a:custGeom>
              <a:avLst/>
              <a:gdLst/>
              <a:ahLst/>
              <a:cxnLst/>
              <a:rect l="l" t="t" r="r" b="b"/>
              <a:pathLst>
                <a:path w="780288" h="780288">
                  <a:moveTo>
                    <a:pt x="0" y="0"/>
                  </a:moveTo>
                  <a:lnTo>
                    <a:pt x="780288" y="0"/>
                  </a:lnTo>
                  <a:lnTo>
                    <a:pt x="780288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93" r="-78391"/>
              </a:stretch>
            </a:blipFill>
          </p:spPr>
        </p:sp>
      </p:grpSp>
      <p:grpSp>
        <p:nvGrpSpPr>
          <p:cNvPr id="89" name="Group 89"/>
          <p:cNvGrpSpPr/>
          <p:nvPr/>
        </p:nvGrpSpPr>
        <p:grpSpPr>
          <a:xfrm>
            <a:off x="1207008" y="5142929"/>
            <a:ext cx="585216" cy="599504"/>
            <a:chOff x="0" y="0"/>
            <a:chExt cx="780288" cy="799338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780288" cy="799338"/>
            </a:xfrm>
            <a:custGeom>
              <a:avLst/>
              <a:gdLst/>
              <a:ahLst/>
              <a:cxnLst/>
              <a:rect l="l" t="t" r="r" b="b"/>
              <a:pathLst>
                <a:path w="780288" h="799338">
                  <a:moveTo>
                    <a:pt x="0" y="0"/>
                  </a:moveTo>
                  <a:lnTo>
                    <a:pt x="780288" y="0"/>
                  </a:lnTo>
                  <a:lnTo>
                    <a:pt x="780288" y="799338"/>
                  </a:lnTo>
                  <a:lnTo>
                    <a:pt x="0" y="7993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1435" r="-81435"/>
              </a:stretch>
            </a:blipFill>
          </p:spPr>
        </p:sp>
        <p:sp>
          <p:nvSpPr>
            <p:cNvPr id="91" name="TextBox 91"/>
            <p:cNvSpPr txBox="1"/>
            <p:nvPr/>
          </p:nvSpPr>
          <p:spPr>
            <a:xfrm>
              <a:off x="0" y="-19050"/>
              <a:ext cx="780288" cy="8183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1</a:t>
              </a:r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1975104" y="5120640"/>
            <a:ext cx="3566160" cy="402336"/>
            <a:chOff x="0" y="0"/>
            <a:chExt cx="4754880" cy="536448"/>
          </a:xfrm>
        </p:grpSpPr>
        <p:sp>
          <p:nvSpPr>
            <p:cNvPr id="93" name="Freeform 93"/>
            <p:cNvSpPr/>
            <p:nvPr/>
          </p:nvSpPr>
          <p:spPr>
            <a:xfrm>
              <a:off x="0" y="0"/>
              <a:ext cx="4754880" cy="536448"/>
            </a:xfrm>
            <a:custGeom>
              <a:avLst/>
              <a:gdLst/>
              <a:ahLst/>
              <a:cxnLst/>
              <a:rect l="l" t="t" r="r" b="b"/>
              <a:pathLst>
                <a:path w="4754880" h="536448">
                  <a:moveTo>
                    <a:pt x="0" y="0"/>
                  </a:moveTo>
                  <a:lnTo>
                    <a:pt x="4754880" y="0"/>
                  </a:lnTo>
                  <a:lnTo>
                    <a:pt x="47548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2587" b="-122589"/>
              </a:stretch>
            </a:blipFill>
          </p:spPr>
        </p:sp>
      </p:grpSp>
      <p:grpSp>
        <p:nvGrpSpPr>
          <p:cNvPr id="94" name="Group 94"/>
          <p:cNvGrpSpPr/>
          <p:nvPr/>
        </p:nvGrpSpPr>
        <p:grpSpPr>
          <a:xfrm>
            <a:off x="1975104" y="5106353"/>
            <a:ext cx="3566160" cy="416624"/>
            <a:chOff x="0" y="0"/>
            <a:chExt cx="4754880" cy="555498"/>
          </a:xfrm>
        </p:grpSpPr>
        <p:sp>
          <p:nvSpPr>
            <p:cNvPr id="95" name="Freeform 95"/>
            <p:cNvSpPr/>
            <p:nvPr/>
          </p:nvSpPr>
          <p:spPr>
            <a:xfrm>
              <a:off x="0" y="0"/>
              <a:ext cx="4754880" cy="555498"/>
            </a:xfrm>
            <a:custGeom>
              <a:avLst/>
              <a:gdLst/>
              <a:ahLst/>
              <a:cxnLst/>
              <a:rect l="l" t="t" r="r" b="b"/>
              <a:pathLst>
                <a:path w="4754880" h="555498">
                  <a:moveTo>
                    <a:pt x="0" y="0"/>
                  </a:moveTo>
                  <a:lnTo>
                    <a:pt x="4754880" y="0"/>
                  </a:lnTo>
                  <a:lnTo>
                    <a:pt x="4754880" y="555498"/>
                  </a:lnTo>
                  <a:lnTo>
                    <a:pt x="0" y="55549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16785" b="-116785"/>
              </a:stretch>
            </a:blipFill>
          </p:spPr>
        </p:sp>
        <p:sp>
          <p:nvSpPr>
            <p:cNvPr id="96" name="TextBox 96"/>
            <p:cNvSpPr txBox="1"/>
            <p:nvPr/>
          </p:nvSpPr>
          <p:spPr>
            <a:xfrm>
              <a:off x="0" y="-19050"/>
              <a:ext cx="4754880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 dirty="0">
                  <a:solidFill>
                    <a:srgbClr val="12172B"/>
                  </a:solidFill>
                  <a:latin typeface="Arimo Bold"/>
                  <a:ea typeface="Arimo Bold"/>
                  <a:cs typeface="Arimo Bold"/>
                  <a:sym typeface="Arimo Bold"/>
                </a:rPr>
                <a:t>OXXO AMILPAS OAX</a:t>
              </a:r>
            </a:p>
          </p:txBody>
        </p:sp>
      </p:grpSp>
      <p:grpSp>
        <p:nvGrpSpPr>
          <p:cNvPr id="97" name="Group 97"/>
          <p:cNvGrpSpPr/>
          <p:nvPr/>
        </p:nvGrpSpPr>
        <p:grpSpPr>
          <a:xfrm>
            <a:off x="1952882" y="5519042"/>
            <a:ext cx="3610642" cy="172498"/>
            <a:chOff x="0" y="0"/>
            <a:chExt cx="4814189" cy="229997"/>
          </a:xfrm>
        </p:grpSpPr>
        <p:sp>
          <p:nvSpPr>
            <p:cNvPr id="98" name="Freeform 98"/>
            <p:cNvSpPr/>
            <p:nvPr/>
          </p:nvSpPr>
          <p:spPr>
            <a:xfrm>
              <a:off x="0" y="0"/>
              <a:ext cx="4814189" cy="229997"/>
            </a:xfrm>
            <a:custGeom>
              <a:avLst/>
              <a:gdLst/>
              <a:ahLst/>
              <a:cxnLst/>
              <a:rect l="l" t="t" r="r" b="b"/>
              <a:pathLst>
                <a:path w="4814189" h="229997">
                  <a:moveTo>
                    <a:pt x="0" y="0"/>
                  </a:moveTo>
                  <a:lnTo>
                    <a:pt x="4814189" y="0"/>
                  </a:lnTo>
                  <a:lnTo>
                    <a:pt x="4814189" y="229997"/>
                  </a:lnTo>
                  <a:lnTo>
                    <a:pt x="0" y="229997"/>
                  </a:lnTo>
                  <a:close/>
                </a:path>
              </a:pathLst>
            </a:custGeom>
            <a:solidFill>
              <a:srgbClr val="D7DBE3"/>
            </a:solidFill>
            <a:ln w="25400" cap="sq">
              <a:solidFill>
                <a:srgbClr val="D7DBE3"/>
              </a:solidFill>
              <a:prstDash val="solid"/>
              <a:miter/>
            </a:ln>
          </p:spPr>
        </p:sp>
      </p:grpSp>
      <p:grpSp>
        <p:nvGrpSpPr>
          <p:cNvPr id="99" name="Group 99"/>
          <p:cNvGrpSpPr/>
          <p:nvPr/>
        </p:nvGrpSpPr>
        <p:grpSpPr>
          <a:xfrm>
            <a:off x="1952882" y="5519042"/>
            <a:ext cx="3610642" cy="172498"/>
            <a:chOff x="0" y="0"/>
            <a:chExt cx="4814189" cy="229997"/>
          </a:xfrm>
        </p:grpSpPr>
        <p:sp>
          <p:nvSpPr>
            <p:cNvPr id="100" name="Freeform 100"/>
            <p:cNvSpPr/>
            <p:nvPr/>
          </p:nvSpPr>
          <p:spPr>
            <a:xfrm>
              <a:off x="0" y="0"/>
              <a:ext cx="4814189" cy="229997"/>
            </a:xfrm>
            <a:custGeom>
              <a:avLst/>
              <a:gdLst/>
              <a:ahLst/>
              <a:cxnLst/>
              <a:rect l="l" t="t" r="r" b="b"/>
              <a:pathLst>
                <a:path w="4814189" h="229997">
                  <a:moveTo>
                    <a:pt x="0" y="0"/>
                  </a:moveTo>
                  <a:lnTo>
                    <a:pt x="4814189" y="0"/>
                  </a:lnTo>
                  <a:lnTo>
                    <a:pt x="4814189" y="229997"/>
                  </a:lnTo>
                  <a:lnTo>
                    <a:pt x="0" y="229997"/>
                  </a:lnTo>
                  <a:close/>
                </a:path>
              </a:pathLst>
            </a:custGeom>
            <a:solidFill>
              <a:srgbClr val="E3000F"/>
            </a:solidFill>
            <a:ln w="25400" cap="sq">
              <a:solidFill>
                <a:srgbClr val="E3000F"/>
              </a:solidFill>
              <a:prstDash val="solid"/>
              <a:miter/>
            </a:ln>
          </p:spPr>
        </p:sp>
      </p:grpSp>
      <p:sp>
        <p:nvSpPr>
          <p:cNvPr id="101" name="Freeform 101"/>
          <p:cNvSpPr/>
          <p:nvPr/>
        </p:nvSpPr>
        <p:spPr>
          <a:xfrm>
            <a:off x="1184786" y="6049394"/>
            <a:ext cx="629698" cy="629698"/>
          </a:xfrm>
          <a:custGeom>
            <a:avLst/>
            <a:gdLst/>
            <a:ahLst/>
            <a:cxnLst/>
            <a:rect l="l" t="t" r="r" b="b"/>
            <a:pathLst>
              <a:path w="629698" h="629698">
                <a:moveTo>
                  <a:pt x="0" y="0"/>
                </a:moveTo>
                <a:lnTo>
                  <a:pt x="629698" y="0"/>
                </a:lnTo>
                <a:lnTo>
                  <a:pt x="629698" y="629698"/>
                </a:lnTo>
                <a:lnTo>
                  <a:pt x="0" y="629698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  <p:grpSp>
        <p:nvGrpSpPr>
          <p:cNvPr id="102" name="Group 102"/>
          <p:cNvGrpSpPr/>
          <p:nvPr/>
        </p:nvGrpSpPr>
        <p:grpSpPr>
          <a:xfrm>
            <a:off x="1207008" y="6071616"/>
            <a:ext cx="585216" cy="585216"/>
            <a:chOff x="0" y="0"/>
            <a:chExt cx="780288" cy="780288"/>
          </a:xfrm>
        </p:grpSpPr>
        <p:sp>
          <p:nvSpPr>
            <p:cNvPr id="103" name="Freeform 103"/>
            <p:cNvSpPr/>
            <p:nvPr/>
          </p:nvSpPr>
          <p:spPr>
            <a:xfrm>
              <a:off x="0" y="0"/>
              <a:ext cx="780288" cy="780288"/>
            </a:xfrm>
            <a:custGeom>
              <a:avLst/>
              <a:gdLst/>
              <a:ahLst/>
              <a:cxnLst/>
              <a:rect l="l" t="t" r="r" b="b"/>
              <a:pathLst>
                <a:path w="780288" h="780288">
                  <a:moveTo>
                    <a:pt x="0" y="0"/>
                  </a:moveTo>
                  <a:lnTo>
                    <a:pt x="780288" y="0"/>
                  </a:lnTo>
                  <a:lnTo>
                    <a:pt x="780288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93" r="-78391"/>
              </a:stretch>
            </a:blipFill>
          </p:spPr>
        </p:sp>
      </p:grpSp>
      <p:grpSp>
        <p:nvGrpSpPr>
          <p:cNvPr id="104" name="Group 104"/>
          <p:cNvGrpSpPr/>
          <p:nvPr/>
        </p:nvGrpSpPr>
        <p:grpSpPr>
          <a:xfrm>
            <a:off x="1207008" y="6057329"/>
            <a:ext cx="585216" cy="599504"/>
            <a:chOff x="0" y="0"/>
            <a:chExt cx="780288" cy="799338"/>
          </a:xfrm>
        </p:grpSpPr>
        <p:sp>
          <p:nvSpPr>
            <p:cNvPr id="105" name="Freeform 105"/>
            <p:cNvSpPr/>
            <p:nvPr/>
          </p:nvSpPr>
          <p:spPr>
            <a:xfrm>
              <a:off x="0" y="0"/>
              <a:ext cx="780288" cy="799338"/>
            </a:xfrm>
            <a:custGeom>
              <a:avLst/>
              <a:gdLst/>
              <a:ahLst/>
              <a:cxnLst/>
              <a:rect l="l" t="t" r="r" b="b"/>
              <a:pathLst>
                <a:path w="780288" h="799338">
                  <a:moveTo>
                    <a:pt x="0" y="0"/>
                  </a:moveTo>
                  <a:lnTo>
                    <a:pt x="780288" y="0"/>
                  </a:lnTo>
                  <a:lnTo>
                    <a:pt x="780288" y="799338"/>
                  </a:lnTo>
                  <a:lnTo>
                    <a:pt x="0" y="7993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1435" r="-81435"/>
              </a:stretch>
            </a:blipFill>
          </p:spPr>
        </p:sp>
        <p:sp>
          <p:nvSpPr>
            <p:cNvPr id="106" name="TextBox 106"/>
            <p:cNvSpPr txBox="1"/>
            <p:nvPr/>
          </p:nvSpPr>
          <p:spPr>
            <a:xfrm>
              <a:off x="0" y="-19050"/>
              <a:ext cx="780288" cy="8183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id="107" name="Group 107"/>
          <p:cNvGrpSpPr/>
          <p:nvPr/>
        </p:nvGrpSpPr>
        <p:grpSpPr>
          <a:xfrm>
            <a:off x="1975104" y="6035040"/>
            <a:ext cx="3566160" cy="402336"/>
            <a:chOff x="0" y="0"/>
            <a:chExt cx="4754880" cy="536448"/>
          </a:xfrm>
        </p:grpSpPr>
        <p:sp>
          <p:nvSpPr>
            <p:cNvPr id="108" name="Freeform 108"/>
            <p:cNvSpPr/>
            <p:nvPr/>
          </p:nvSpPr>
          <p:spPr>
            <a:xfrm>
              <a:off x="0" y="0"/>
              <a:ext cx="4754880" cy="536448"/>
            </a:xfrm>
            <a:custGeom>
              <a:avLst/>
              <a:gdLst/>
              <a:ahLst/>
              <a:cxnLst/>
              <a:rect l="l" t="t" r="r" b="b"/>
              <a:pathLst>
                <a:path w="4754880" h="536448">
                  <a:moveTo>
                    <a:pt x="0" y="0"/>
                  </a:moveTo>
                  <a:lnTo>
                    <a:pt x="4754880" y="0"/>
                  </a:lnTo>
                  <a:lnTo>
                    <a:pt x="47548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2587" b="-122589"/>
              </a:stretch>
            </a:blipFill>
          </p:spPr>
        </p:sp>
      </p:grpSp>
      <p:grpSp>
        <p:nvGrpSpPr>
          <p:cNvPr id="109" name="Group 109"/>
          <p:cNvGrpSpPr/>
          <p:nvPr/>
        </p:nvGrpSpPr>
        <p:grpSpPr>
          <a:xfrm>
            <a:off x="1975104" y="6020753"/>
            <a:ext cx="3566160" cy="416624"/>
            <a:chOff x="0" y="0"/>
            <a:chExt cx="4754880" cy="555498"/>
          </a:xfrm>
        </p:grpSpPr>
        <p:sp>
          <p:nvSpPr>
            <p:cNvPr id="110" name="Freeform 110"/>
            <p:cNvSpPr/>
            <p:nvPr/>
          </p:nvSpPr>
          <p:spPr>
            <a:xfrm>
              <a:off x="0" y="0"/>
              <a:ext cx="4754880" cy="555498"/>
            </a:xfrm>
            <a:custGeom>
              <a:avLst/>
              <a:gdLst/>
              <a:ahLst/>
              <a:cxnLst/>
              <a:rect l="l" t="t" r="r" b="b"/>
              <a:pathLst>
                <a:path w="4754880" h="555498">
                  <a:moveTo>
                    <a:pt x="0" y="0"/>
                  </a:moveTo>
                  <a:lnTo>
                    <a:pt x="4754880" y="0"/>
                  </a:lnTo>
                  <a:lnTo>
                    <a:pt x="4754880" y="555498"/>
                  </a:lnTo>
                  <a:lnTo>
                    <a:pt x="0" y="55549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16785" b="-116785"/>
              </a:stretch>
            </a:blipFill>
          </p:spPr>
        </p:sp>
        <p:sp>
          <p:nvSpPr>
            <p:cNvPr id="111" name="TextBox 111"/>
            <p:cNvSpPr txBox="1"/>
            <p:nvPr/>
          </p:nvSpPr>
          <p:spPr>
            <a:xfrm>
              <a:off x="0" y="-19050"/>
              <a:ext cx="4754880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 dirty="0">
                  <a:solidFill>
                    <a:srgbClr val="12172B"/>
                  </a:solidFill>
                  <a:latin typeface="Arimo Bold"/>
                  <a:ea typeface="Arimo Bold"/>
                  <a:cs typeface="Arimo Bold"/>
                  <a:sym typeface="Arimo Bold"/>
                </a:rPr>
                <a:t>OXXO EMILIO OAX</a:t>
              </a:r>
            </a:p>
          </p:txBody>
        </p:sp>
      </p:grpSp>
      <p:grpSp>
        <p:nvGrpSpPr>
          <p:cNvPr id="112" name="Group 112"/>
          <p:cNvGrpSpPr/>
          <p:nvPr/>
        </p:nvGrpSpPr>
        <p:grpSpPr>
          <a:xfrm>
            <a:off x="1952882" y="6433442"/>
            <a:ext cx="3610642" cy="172498"/>
            <a:chOff x="0" y="0"/>
            <a:chExt cx="4814189" cy="229997"/>
          </a:xfrm>
        </p:grpSpPr>
        <p:sp>
          <p:nvSpPr>
            <p:cNvPr id="113" name="Freeform 113"/>
            <p:cNvSpPr/>
            <p:nvPr/>
          </p:nvSpPr>
          <p:spPr>
            <a:xfrm>
              <a:off x="0" y="0"/>
              <a:ext cx="4814189" cy="229997"/>
            </a:xfrm>
            <a:custGeom>
              <a:avLst/>
              <a:gdLst/>
              <a:ahLst/>
              <a:cxnLst/>
              <a:rect l="l" t="t" r="r" b="b"/>
              <a:pathLst>
                <a:path w="4814189" h="229997">
                  <a:moveTo>
                    <a:pt x="0" y="0"/>
                  </a:moveTo>
                  <a:lnTo>
                    <a:pt x="4814189" y="0"/>
                  </a:lnTo>
                  <a:lnTo>
                    <a:pt x="4814189" y="229997"/>
                  </a:lnTo>
                  <a:lnTo>
                    <a:pt x="0" y="229997"/>
                  </a:lnTo>
                  <a:close/>
                </a:path>
              </a:pathLst>
            </a:custGeom>
            <a:solidFill>
              <a:srgbClr val="D7DBE3"/>
            </a:solidFill>
            <a:ln w="25400" cap="sq">
              <a:solidFill>
                <a:srgbClr val="D7DBE3"/>
              </a:solidFill>
              <a:prstDash val="solid"/>
              <a:miter/>
            </a:ln>
          </p:spPr>
        </p:sp>
      </p:grpSp>
      <p:grpSp>
        <p:nvGrpSpPr>
          <p:cNvPr id="114" name="Group 114"/>
          <p:cNvGrpSpPr/>
          <p:nvPr/>
        </p:nvGrpSpPr>
        <p:grpSpPr>
          <a:xfrm>
            <a:off x="1954501" y="6435061"/>
            <a:ext cx="3609023" cy="164508"/>
            <a:chOff x="0" y="0"/>
            <a:chExt cx="4812031" cy="106123"/>
          </a:xfrm>
        </p:grpSpPr>
        <p:sp>
          <p:nvSpPr>
            <p:cNvPr id="115" name="Freeform 115"/>
            <p:cNvSpPr/>
            <p:nvPr/>
          </p:nvSpPr>
          <p:spPr>
            <a:xfrm>
              <a:off x="0" y="0"/>
              <a:ext cx="4812031" cy="106123"/>
            </a:xfrm>
            <a:custGeom>
              <a:avLst/>
              <a:gdLst/>
              <a:ahLst/>
              <a:cxnLst/>
              <a:rect l="l" t="t" r="r" b="b"/>
              <a:pathLst>
                <a:path w="3997452" h="191008">
                  <a:moveTo>
                    <a:pt x="0" y="0"/>
                  </a:moveTo>
                  <a:lnTo>
                    <a:pt x="3997452" y="0"/>
                  </a:lnTo>
                  <a:lnTo>
                    <a:pt x="3997452" y="191008"/>
                  </a:lnTo>
                  <a:lnTo>
                    <a:pt x="0" y="191008"/>
                  </a:lnTo>
                  <a:close/>
                </a:path>
              </a:pathLst>
            </a:custGeom>
            <a:solidFill>
              <a:srgbClr val="E3000F"/>
            </a:solidFill>
            <a:ln w="25400" cap="sq">
              <a:solidFill>
                <a:srgbClr val="E3000F"/>
              </a:solidFill>
              <a:prstDash val="solid"/>
              <a:miter/>
            </a:ln>
          </p:spPr>
        </p:sp>
      </p:grpSp>
      <p:sp>
        <p:nvSpPr>
          <p:cNvPr id="116" name="Freeform 116"/>
          <p:cNvSpPr/>
          <p:nvPr/>
        </p:nvSpPr>
        <p:spPr>
          <a:xfrm>
            <a:off x="1184786" y="6963794"/>
            <a:ext cx="629698" cy="629698"/>
          </a:xfrm>
          <a:custGeom>
            <a:avLst/>
            <a:gdLst/>
            <a:ahLst/>
            <a:cxnLst/>
            <a:rect l="l" t="t" r="r" b="b"/>
            <a:pathLst>
              <a:path w="629698" h="629698">
                <a:moveTo>
                  <a:pt x="0" y="0"/>
                </a:moveTo>
                <a:lnTo>
                  <a:pt x="629698" y="0"/>
                </a:lnTo>
                <a:lnTo>
                  <a:pt x="629698" y="629698"/>
                </a:lnTo>
                <a:lnTo>
                  <a:pt x="0" y="629698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  <p:grpSp>
        <p:nvGrpSpPr>
          <p:cNvPr id="117" name="Group 117"/>
          <p:cNvGrpSpPr/>
          <p:nvPr/>
        </p:nvGrpSpPr>
        <p:grpSpPr>
          <a:xfrm>
            <a:off x="1207008" y="6986016"/>
            <a:ext cx="585216" cy="585216"/>
            <a:chOff x="0" y="0"/>
            <a:chExt cx="780288" cy="780288"/>
          </a:xfrm>
        </p:grpSpPr>
        <p:sp>
          <p:nvSpPr>
            <p:cNvPr id="118" name="Freeform 118"/>
            <p:cNvSpPr/>
            <p:nvPr/>
          </p:nvSpPr>
          <p:spPr>
            <a:xfrm>
              <a:off x="0" y="0"/>
              <a:ext cx="780288" cy="780288"/>
            </a:xfrm>
            <a:custGeom>
              <a:avLst/>
              <a:gdLst/>
              <a:ahLst/>
              <a:cxnLst/>
              <a:rect l="l" t="t" r="r" b="b"/>
              <a:pathLst>
                <a:path w="780288" h="780288">
                  <a:moveTo>
                    <a:pt x="0" y="0"/>
                  </a:moveTo>
                  <a:lnTo>
                    <a:pt x="780288" y="0"/>
                  </a:lnTo>
                  <a:lnTo>
                    <a:pt x="780288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93" r="-78391"/>
              </a:stretch>
            </a:blipFill>
          </p:spPr>
        </p:sp>
      </p:grpSp>
      <p:grpSp>
        <p:nvGrpSpPr>
          <p:cNvPr id="119" name="Group 119"/>
          <p:cNvGrpSpPr/>
          <p:nvPr/>
        </p:nvGrpSpPr>
        <p:grpSpPr>
          <a:xfrm>
            <a:off x="1207008" y="6971729"/>
            <a:ext cx="585216" cy="599504"/>
            <a:chOff x="0" y="0"/>
            <a:chExt cx="780288" cy="799338"/>
          </a:xfrm>
        </p:grpSpPr>
        <p:sp>
          <p:nvSpPr>
            <p:cNvPr id="120" name="Freeform 120"/>
            <p:cNvSpPr/>
            <p:nvPr/>
          </p:nvSpPr>
          <p:spPr>
            <a:xfrm>
              <a:off x="0" y="0"/>
              <a:ext cx="780288" cy="799338"/>
            </a:xfrm>
            <a:custGeom>
              <a:avLst/>
              <a:gdLst/>
              <a:ahLst/>
              <a:cxnLst/>
              <a:rect l="l" t="t" r="r" b="b"/>
              <a:pathLst>
                <a:path w="780288" h="799338">
                  <a:moveTo>
                    <a:pt x="0" y="0"/>
                  </a:moveTo>
                  <a:lnTo>
                    <a:pt x="780288" y="0"/>
                  </a:lnTo>
                  <a:lnTo>
                    <a:pt x="780288" y="799338"/>
                  </a:lnTo>
                  <a:lnTo>
                    <a:pt x="0" y="7993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1435" r="-81435"/>
              </a:stretch>
            </a:blipFill>
          </p:spPr>
        </p:sp>
        <p:sp>
          <p:nvSpPr>
            <p:cNvPr id="121" name="TextBox 121"/>
            <p:cNvSpPr txBox="1"/>
            <p:nvPr/>
          </p:nvSpPr>
          <p:spPr>
            <a:xfrm>
              <a:off x="0" y="-19050"/>
              <a:ext cx="780288" cy="8183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grpSp>
        <p:nvGrpSpPr>
          <p:cNvPr id="122" name="Group 122"/>
          <p:cNvGrpSpPr/>
          <p:nvPr/>
        </p:nvGrpSpPr>
        <p:grpSpPr>
          <a:xfrm>
            <a:off x="1975104" y="6949440"/>
            <a:ext cx="3566160" cy="402336"/>
            <a:chOff x="0" y="0"/>
            <a:chExt cx="4754880" cy="536448"/>
          </a:xfrm>
        </p:grpSpPr>
        <p:sp>
          <p:nvSpPr>
            <p:cNvPr id="123" name="Freeform 123"/>
            <p:cNvSpPr/>
            <p:nvPr/>
          </p:nvSpPr>
          <p:spPr>
            <a:xfrm>
              <a:off x="0" y="0"/>
              <a:ext cx="4754880" cy="536448"/>
            </a:xfrm>
            <a:custGeom>
              <a:avLst/>
              <a:gdLst/>
              <a:ahLst/>
              <a:cxnLst/>
              <a:rect l="l" t="t" r="r" b="b"/>
              <a:pathLst>
                <a:path w="4754880" h="536448">
                  <a:moveTo>
                    <a:pt x="0" y="0"/>
                  </a:moveTo>
                  <a:lnTo>
                    <a:pt x="4754880" y="0"/>
                  </a:lnTo>
                  <a:lnTo>
                    <a:pt x="47548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2587" b="-122589"/>
              </a:stretch>
            </a:blipFill>
          </p:spPr>
        </p:sp>
      </p:grpSp>
      <p:grpSp>
        <p:nvGrpSpPr>
          <p:cNvPr id="124" name="Group 124"/>
          <p:cNvGrpSpPr/>
          <p:nvPr/>
        </p:nvGrpSpPr>
        <p:grpSpPr>
          <a:xfrm>
            <a:off x="1975104" y="6935153"/>
            <a:ext cx="3566160" cy="416624"/>
            <a:chOff x="0" y="0"/>
            <a:chExt cx="4754880" cy="555498"/>
          </a:xfrm>
        </p:grpSpPr>
        <p:sp>
          <p:nvSpPr>
            <p:cNvPr id="125" name="Freeform 125"/>
            <p:cNvSpPr/>
            <p:nvPr/>
          </p:nvSpPr>
          <p:spPr>
            <a:xfrm>
              <a:off x="0" y="0"/>
              <a:ext cx="4754880" cy="555498"/>
            </a:xfrm>
            <a:custGeom>
              <a:avLst/>
              <a:gdLst/>
              <a:ahLst/>
              <a:cxnLst/>
              <a:rect l="l" t="t" r="r" b="b"/>
              <a:pathLst>
                <a:path w="4754880" h="555498">
                  <a:moveTo>
                    <a:pt x="0" y="0"/>
                  </a:moveTo>
                  <a:lnTo>
                    <a:pt x="4754880" y="0"/>
                  </a:lnTo>
                  <a:lnTo>
                    <a:pt x="4754880" y="555498"/>
                  </a:lnTo>
                  <a:lnTo>
                    <a:pt x="0" y="55549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16785" b="-116785"/>
              </a:stretch>
            </a:blipFill>
          </p:spPr>
        </p:sp>
        <p:sp>
          <p:nvSpPr>
            <p:cNvPr id="126" name="TextBox 126"/>
            <p:cNvSpPr txBox="1"/>
            <p:nvPr/>
          </p:nvSpPr>
          <p:spPr>
            <a:xfrm>
              <a:off x="0" y="-19050"/>
              <a:ext cx="4754880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40"/>
                </a:lnSpc>
              </a:pPr>
              <a:r>
                <a:rPr lang="en-US" sz="1700" b="1" dirty="0">
                  <a:solidFill>
                    <a:srgbClr val="12172B"/>
                  </a:solidFill>
                  <a:latin typeface="Arimo Bold"/>
                  <a:ea typeface="Arimo Bold"/>
                  <a:cs typeface="Arimo Bold"/>
                  <a:sym typeface="Arimo Bold"/>
                </a:rPr>
                <a:t>OXXO LOS TAMARINDOS VSA</a:t>
              </a:r>
            </a:p>
          </p:txBody>
        </p:sp>
      </p:grpSp>
      <p:grpSp>
        <p:nvGrpSpPr>
          <p:cNvPr id="127" name="Group 127"/>
          <p:cNvGrpSpPr/>
          <p:nvPr/>
        </p:nvGrpSpPr>
        <p:grpSpPr>
          <a:xfrm>
            <a:off x="1952882" y="7347842"/>
            <a:ext cx="3610642" cy="172498"/>
            <a:chOff x="0" y="0"/>
            <a:chExt cx="4814189" cy="229997"/>
          </a:xfrm>
        </p:grpSpPr>
        <p:sp>
          <p:nvSpPr>
            <p:cNvPr id="128" name="Freeform 128"/>
            <p:cNvSpPr/>
            <p:nvPr/>
          </p:nvSpPr>
          <p:spPr>
            <a:xfrm>
              <a:off x="0" y="0"/>
              <a:ext cx="4814189" cy="229997"/>
            </a:xfrm>
            <a:custGeom>
              <a:avLst/>
              <a:gdLst/>
              <a:ahLst/>
              <a:cxnLst/>
              <a:rect l="l" t="t" r="r" b="b"/>
              <a:pathLst>
                <a:path w="4814189" h="229997">
                  <a:moveTo>
                    <a:pt x="0" y="0"/>
                  </a:moveTo>
                  <a:lnTo>
                    <a:pt x="4814189" y="0"/>
                  </a:lnTo>
                  <a:lnTo>
                    <a:pt x="4814189" y="229997"/>
                  </a:lnTo>
                  <a:lnTo>
                    <a:pt x="0" y="229997"/>
                  </a:lnTo>
                  <a:close/>
                </a:path>
              </a:pathLst>
            </a:custGeom>
            <a:solidFill>
              <a:srgbClr val="D7DBE3"/>
            </a:solidFill>
            <a:ln w="25400" cap="sq">
              <a:solidFill>
                <a:srgbClr val="D7DBE3"/>
              </a:solidFill>
              <a:prstDash val="solid"/>
              <a:miter/>
            </a:ln>
          </p:spPr>
        </p:sp>
      </p:grpSp>
      <p:grpSp>
        <p:nvGrpSpPr>
          <p:cNvPr id="129" name="Group 129"/>
          <p:cNvGrpSpPr/>
          <p:nvPr/>
        </p:nvGrpSpPr>
        <p:grpSpPr>
          <a:xfrm>
            <a:off x="1953377" y="7331326"/>
            <a:ext cx="3583867" cy="196931"/>
            <a:chOff x="0" y="0"/>
            <a:chExt cx="4778489" cy="262574"/>
          </a:xfrm>
        </p:grpSpPr>
        <p:sp>
          <p:nvSpPr>
            <p:cNvPr id="130" name="Freeform 130"/>
            <p:cNvSpPr/>
            <p:nvPr/>
          </p:nvSpPr>
          <p:spPr>
            <a:xfrm>
              <a:off x="0" y="0"/>
              <a:ext cx="4778489" cy="262574"/>
            </a:xfrm>
            <a:custGeom>
              <a:avLst/>
              <a:gdLst/>
              <a:ahLst/>
              <a:cxnLst/>
              <a:rect l="l" t="t" r="r" b="b"/>
              <a:pathLst>
                <a:path w="4000500" h="218059">
                  <a:moveTo>
                    <a:pt x="0" y="0"/>
                  </a:moveTo>
                  <a:lnTo>
                    <a:pt x="4000500" y="0"/>
                  </a:lnTo>
                  <a:lnTo>
                    <a:pt x="4000500" y="218059"/>
                  </a:lnTo>
                  <a:lnTo>
                    <a:pt x="0" y="218059"/>
                  </a:lnTo>
                  <a:close/>
                </a:path>
              </a:pathLst>
            </a:custGeom>
            <a:solidFill>
              <a:srgbClr val="E3000F"/>
            </a:solidFill>
            <a:ln w="25400" cap="sq">
              <a:solidFill>
                <a:srgbClr val="E3000F"/>
              </a:solidFill>
              <a:prstDash val="solid"/>
              <a:miter/>
            </a:ln>
          </p:spPr>
        </p:sp>
      </p:grpSp>
      <p:sp>
        <p:nvSpPr>
          <p:cNvPr id="131" name="Freeform 131"/>
          <p:cNvSpPr/>
          <p:nvPr/>
        </p:nvSpPr>
        <p:spPr>
          <a:xfrm>
            <a:off x="1184786" y="7878194"/>
            <a:ext cx="629698" cy="629698"/>
          </a:xfrm>
          <a:custGeom>
            <a:avLst/>
            <a:gdLst/>
            <a:ahLst/>
            <a:cxnLst/>
            <a:rect l="l" t="t" r="r" b="b"/>
            <a:pathLst>
              <a:path w="629698" h="629698">
                <a:moveTo>
                  <a:pt x="0" y="0"/>
                </a:moveTo>
                <a:lnTo>
                  <a:pt x="629698" y="0"/>
                </a:lnTo>
                <a:lnTo>
                  <a:pt x="629698" y="629698"/>
                </a:lnTo>
                <a:lnTo>
                  <a:pt x="0" y="629698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  <p:grpSp>
        <p:nvGrpSpPr>
          <p:cNvPr id="132" name="Group 132"/>
          <p:cNvGrpSpPr/>
          <p:nvPr/>
        </p:nvGrpSpPr>
        <p:grpSpPr>
          <a:xfrm>
            <a:off x="1207008" y="7900416"/>
            <a:ext cx="585216" cy="585216"/>
            <a:chOff x="0" y="0"/>
            <a:chExt cx="780288" cy="780288"/>
          </a:xfrm>
        </p:grpSpPr>
        <p:sp>
          <p:nvSpPr>
            <p:cNvPr id="133" name="Freeform 133"/>
            <p:cNvSpPr/>
            <p:nvPr/>
          </p:nvSpPr>
          <p:spPr>
            <a:xfrm>
              <a:off x="0" y="0"/>
              <a:ext cx="780288" cy="780288"/>
            </a:xfrm>
            <a:custGeom>
              <a:avLst/>
              <a:gdLst/>
              <a:ahLst/>
              <a:cxnLst/>
              <a:rect l="l" t="t" r="r" b="b"/>
              <a:pathLst>
                <a:path w="780288" h="780288">
                  <a:moveTo>
                    <a:pt x="0" y="0"/>
                  </a:moveTo>
                  <a:lnTo>
                    <a:pt x="780288" y="0"/>
                  </a:lnTo>
                  <a:lnTo>
                    <a:pt x="780288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93" r="-78391"/>
              </a:stretch>
            </a:blipFill>
          </p:spPr>
        </p:sp>
      </p:grpSp>
      <p:grpSp>
        <p:nvGrpSpPr>
          <p:cNvPr id="134" name="Group 134"/>
          <p:cNvGrpSpPr/>
          <p:nvPr/>
        </p:nvGrpSpPr>
        <p:grpSpPr>
          <a:xfrm>
            <a:off x="1207008" y="7886129"/>
            <a:ext cx="585216" cy="599504"/>
            <a:chOff x="0" y="0"/>
            <a:chExt cx="780288" cy="799338"/>
          </a:xfrm>
        </p:grpSpPr>
        <p:sp>
          <p:nvSpPr>
            <p:cNvPr id="135" name="Freeform 135"/>
            <p:cNvSpPr/>
            <p:nvPr/>
          </p:nvSpPr>
          <p:spPr>
            <a:xfrm>
              <a:off x="0" y="0"/>
              <a:ext cx="780288" cy="799338"/>
            </a:xfrm>
            <a:custGeom>
              <a:avLst/>
              <a:gdLst/>
              <a:ahLst/>
              <a:cxnLst/>
              <a:rect l="l" t="t" r="r" b="b"/>
              <a:pathLst>
                <a:path w="780288" h="799338">
                  <a:moveTo>
                    <a:pt x="0" y="0"/>
                  </a:moveTo>
                  <a:lnTo>
                    <a:pt x="780288" y="0"/>
                  </a:lnTo>
                  <a:lnTo>
                    <a:pt x="780288" y="799338"/>
                  </a:lnTo>
                  <a:lnTo>
                    <a:pt x="0" y="7993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1435" r="-81435"/>
              </a:stretch>
            </a:blipFill>
          </p:spPr>
        </p:sp>
        <p:sp>
          <p:nvSpPr>
            <p:cNvPr id="136" name="TextBox 136"/>
            <p:cNvSpPr txBox="1"/>
            <p:nvPr/>
          </p:nvSpPr>
          <p:spPr>
            <a:xfrm>
              <a:off x="0" y="-19050"/>
              <a:ext cx="780288" cy="8183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</a:t>
              </a:r>
            </a:p>
          </p:txBody>
        </p:sp>
      </p:grpSp>
      <p:grpSp>
        <p:nvGrpSpPr>
          <p:cNvPr id="137" name="Group 137"/>
          <p:cNvGrpSpPr/>
          <p:nvPr/>
        </p:nvGrpSpPr>
        <p:grpSpPr>
          <a:xfrm>
            <a:off x="1975104" y="7863840"/>
            <a:ext cx="3566160" cy="402336"/>
            <a:chOff x="0" y="0"/>
            <a:chExt cx="4754880" cy="536448"/>
          </a:xfrm>
        </p:grpSpPr>
        <p:sp>
          <p:nvSpPr>
            <p:cNvPr id="138" name="Freeform 138"/>
            <p:cNvSpPr/>
            <p:nvPr/>
          </p:nvSpPr>
          <p:spPr>
            <a:xfrm>
              <a:off x="0" y="0"/>
              <a:ext cx="4754880" cy="536448"/>
            </a:xfrm>
            <a:custGeom>
              <a:avLst/>
              <a:gdLst/>
              <a:ahLst/>
              <a:cxnLst/>
              <a:rect l="l" t="t" r="r" b="b"/>
              <a:pathLst>
                <a:path w="4754880" h="536448">
                  <a:moveTo>
                    <a:pt x="0" y="0"/>
                  </a:moveTo>
                  <a:lnTo>
                    <a:pt x="4754880" y="0"/>
                  </a:lnTo>
                  <a:lnTo>
                    <a:pt x="47548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2587" b="-122589"/>
              </a:stretch>
            </a:blipFill>
          </p:spPr>
        </p:sp>
      </p:grpSp>
      <p:grpSp>
        <p:nvGrpSpPr>
          <p:cNvPr id="139" name="Group 139"/>
          <p:cNvGrpSpPr/>
          <p:nvPr/>
        </p:nvGrpSpPr>
        <p:grpSpPr>
          <a:xfrm>
            <a:off x="1975104" y="7849553"/>
            <a:ext cx="3566160" cy="416624"/>
            <a:chOff x="0" y="0"/>
            <a:chExt cx="4754880" cy="555498"/>
          </a:xfrm>
        </p:grpSpPr>
        <p:sp>
          <p:nvSpPr>
            <p:cNvPr id="140" name="Freeform 140"/>
            <p:cNvSpPr/>
            <p:nvPr/>
          </p:nvSpPr>
          <p:spPr>
            <a:xfrm>
              <a:off x="0" y="0"/>
              <a:ext cx="4754880" cy="555498"/>
            </a:xfrm>
            <a:custGeom>
              <a:avLst/>
              <a:gdLst/>
              <a:ahLst/>
              <a:cxnLst/>
              <a:rect l="l" t="t" r="r" b="b"/>
              <a:pathLst>
                <a:path w="4754880" h="555498">
                  <a:moveTo>
                    <a:pt x="0" y="0"/>
                  </a:moveTo>
                  <a:lnTo>
                    <a:pt x="4754880" y="0"/>
                  </a:lnTo>
                  <a:lnTo>
                    <a:pt x="4754880" y="555498"/>
                  </a:lnTo>
                  <a:lnTo>
                    <a:pt x="0" y="55549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16785" b="-116785"/>
              </a:stretch>
            </a:blipFill>
          </p:spPr>
        </p:sp>
        <p:sp>
          <p:nvSpPr>
            <p:cNvPr id="141" name="TextBox 141"/>
            <p:cNvSpPr txBox="1"/>
            <p:nvPr/>
          </p:nvSpPr>
          <p:spPr>
            <a:xfrm>
              <a:off x="0" y="-19050"/>
              <a:ext cx="4754880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 dirty="0">
                  <a:solidFill>
                    <a:srgbClr val="12172B"/>
                  </a:solidFill>
                  <a:latin typeface="Arimo Bold"/>
                  <a:ea typeface="Arimo Bold"/>
                  <a:cs typeface="Arimo Bold"/>
                  <a:sym typeface="Arimo Bold"/>
                </a:rPr>
                <a:t>OXXO CARRIZALILLO </a:t>
              </a:r>
            </a:p>
          </p:txBody>
        </p:sp>
      </p:grpSp>
      <p:grpSp>
        <p:nvGrpSpPr>
          <p:cNvPr id="142" name="Group 142"/>
          <p:cNvGrpSpPr/>
          <p:nvPr/>
        </p:nvGrpSpPr>
        <p:grpSpPr>
          <a:xfrm>
            <a:off x="1952882" y="8262242"/>
            <a:ext cx="3610642" cy="172498"/>
            <a:chOff x="0" y="0"/>
            <a:chExt cx="4814189" cy="229997"/>
          </a:xfrm>
        </p:grpSpPr>
        <p:sp>
          <p:nvSpPr>
            <p:cNvPr id="143" name="Freeform 143"/>
            <p:cNvSpPr/>
            <p:nvPr/>
          </p:nvSpPr>
          <p:spPr>
            <a:xfrm>
              <a:off x="0" y="0"/>
              <a:ext cx="4814189" cy="229997"/>
            </a:xfrm>
            <a:custGeom>
              <a:avLst/>
              <a:gdLst/>
              <a:ahLst/>
              <a:cxnLst/>
              <a:rect l="l" t="t" r="r" b="b"/>
              <a:pathLst>
                <a:path w="4814189" h="229997">
                  <a:moveTo>
                    <a:pt x="0" y="0"/>
                  </a:moveTo>
                  <a:lnTo>
                    <a:pt x="4814189" y="0"/>
                  </a:lnTo>
                  <a:lnTo>
                    <a:pt x="4814189" y="229997"/>
                  </a:lnTo>
                  <a:lnTo>
                    <a:pt x="0" y="229997"/>
                  </a:lnTo>
                  <a:close/>
                </a:path>
              </a:pathLst>
            </a:custGeom>
            <a:solidFill>
              <a:srgbClr val="D7DBE3"/>
            </a:solidFill>
            <a:ln w="25400" cap="sq">
              <a:solidFill>
                <a:srgbClr val="D7DBE3"/>
              </a:solidFill>
              <a:prstDash val="solid"/>
              <a:miter/>
            </a:ln>
          </p:spPr>
        </p:sp>
      </p:grpSp>
      <p:grpSp>
        <p:nvGrpSpPr>
          <p:cNvPr id="144" name="Group 144"/>
          <p:cNvGrpSpPr/>
          <p:nvPr/>
        </p:nvGrpSpPr>
        <p:grpSpPr>
          <a:xfrm>
            <a:off x="1953377" y="8262737"/>
            <a:ext cx="3583867" cy="160125"/>
            <a:chOff x="0" y="0"/>
            <a:chExt cx="4778489" cy="213499"/>
          </a:xfrm>
        </p:grpSpPr>
        <p:sp>
          <p:nvSpPr>
            <p:cNvPr id="145" name="Freeform 145"/>
            <p:cNvSpPr/>
            <p:nvPr/>
          </p:nvSpPr>
          <p:spPr>
            <a:xfrm>
              <a:off x="0" y="0"/>
              <a:ext cx="4778489" cy="213499"/>
            </a:xfrm>
            <a:custGeom>
              <a:avLst/>
              <a:gdLst/>
              <a:ahLst/>
              <a:cxnLst/>
              <a:rect l="l" t="t" r="r" b="b"/>
              <a:pathLst>
                <a:path w="4000500" h="218059">
                  <a:moveTo>
                    <a:pt x="0" y="0"/>
                  </a:moveTo>
                  <a:lnTo>
                    <a:pt x="4000500" y="0"/>
                  </a:lnTo>
                  <a:lnTo>
                    <a:pt x="4000500" y="218059"/>
                  </a:lnTo>
                  <a:lnTo>
                    <a:pt x="0" y="218059"/>
                  </a:lnTo>
                  <a:close/>
                </a:path>
              </a:pathLst>
            </a:custGeom>
            <a:solidFill>
              <a:srgbClr val="E3000F"/>
            </a:solidFill>
            <a:ln w="25400" cap="sq">
              <a:solidFill>
                <a:srgbClr val="E3000F"/>
              </a:solidFill>
              <a:prstDash val="solid"/>
              <a:miter/>
            </a:ln>
          </p:spPr>
        </p:sp>
      </p:grpSp>
      <p:sp>
        <p:nvSpPr>
          <p:cNvPr id="146" name="Freeform 146"/>
          <p:cNvSpPr/>
          <p:nvPr/>
        </p:nvSpPr>
        <p:spPr>
          <a:xfrm>
            <a:off x="1184786" y="8792594"/>
            <a:ext cx="629698" cy="629698"/>
          </a:xfrm>
          <a:custGeom>
            <a:avLst/>
            <a:gdLst/>
            <a:ahLst/>
            <a:cxnLst/>
            <a:rect l="l" t="t" r="r" b="b"/>
            <a:pathLst>
              <a:path w="629698" h="629698">
                <a:moveTo>
                  <a:pt x="0" y="0"/>
                </a:moveTo>
                <a:lnTo>
                  <a:pt x="629698" y="0"/>
                </a:lnTo>
                <a:lnTo>
                  <a:pt x="629698" y="629698"/>
                </a:lnTo>
                <a:lnTo>
                  <a:pt x="0" y="629698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  <p:grpSp>
        <p:nvGrpSpPr>
          <p:cNvPr id="147" name="Group 147"/>
          <p:cNvGrpSpPr/>
          <p:nvPr/>
        </p:nvGrpSpPr>
        <p:grpSpPr>
          <a:xfrm>
            <a:off x="1207008" y="8814816"/>
            <a:ext cx="585216" cy="585216"/>
            <a:chOff x="0" y="0"/>
            <a:chExt cx="780288" cy="780288"/>
          </a:xfrm>
        </p:grpSpPr>
        <p:sp>
          <p:nvSpPr>
            <p:cNvPr id="148" name="Freeform 148"/>
            <p:cNvSpPr/>
            <p:nvPr/>
          </p:nvSpPr>
          <p:spPr>
            <a:xfrm>
              <a:off x="0" y="0"/>
              <a:ext cx="780288" cy="780288"/>
            </a:xfrm>
            <a:custGeom>
              <a:avLst/>
              <a:gdLst/>
              <a:ahLst/>
              <a:cxnLst/>
              <a:rect l="l" t="t" r="r" b="b"/>
              <a:pathLst>
                <a:path w="780288" h="780288">
                  <a:moveTo>
                    <a:pt x="0" y="0"/>
                  </a:moveTo>
                  <a:lnTo>
                    <a:pt x="780288" y="0"/>
                  </a:lnTo>
                  <a:lnTo>
                    <a:pt x="780288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93" r="-78391"/>
              </a:stretch>
            </a:blipFill>
          </p:spPr>
        </p:sp>
      </p:grpSp>
      <p:grpSp>
        <p:nvGrpSpPr>
          <p:cNvPr id="149" name="Group 149"/>
          <p:cNvGrpSpPr/>
          <p:nvPr/>
        </p:nvGrpSpPr>
        <p:grpSpPr>
          <a:xfrm>
            <a:off x="1207008" y="8800528"/>
            <a:ext cx="585216" cy="599504"/>
            <a:chOff x="0" y="0"/>
            <a:chExt cx="780288" cy="799338"/>
          </a:xfrm>
        </p:grpSpPr>
        <p:sp>
          <p:nvSpPr>
            <p:cNvPr id="150" name="Freeform 150"/>
            <p:cNvSpPr/>
            <p:nvPr/>
          </p:nvSpPr>
          <p:spPr>
            <a:xfrm>
              <a:off x="0" y="0"/>
              <a:ext cx="780288" cy="799338"/>
            </a:xfrm>
            <a:custGeom>
              <a:avLst/>
              <a:gdLst/>
              <a:ahLst/>
              <a:cxnLst/>
              <a:rect l="l" t="t" r="r" b="b"/>
              <a:pathLst>
                <a:path w="780288" h="799338">
                  <a:moveTo>
                    <a:pt x="0" y="0"/>
                  </a:moveTo>
                  <a:lnTo>
                    <a:pt x="780288" y="0"/>
                  </a:lnTo>
                  <a:lnTo>
                    <a:pt x="780288" y="799338"/>
                  </a:lnTo>
                  <a:lnTo>
                    <a:pt x="0" y="7993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1435" r="-81435"/>
              </a:stretch>
            </a:blipFill>
          </p:spPr>
        </p:sp>
        <p:sp>
          <p:nvSpPr>
            <p:cNvPr id="151" name="TextBox 151"/>
            <p:cNvSpPr txBox="1"/>
            <p:nvPr/>
          </p:nvSpPr>
          <p:spPr>
            <a:xfrm>
              <a:off x="0" y="-19050"/>
              <a:ext cx="780288" cy="8183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</a:t>
              </a:r>
            </a:p>
          </p:txBody>
        </p:sp>
      </p:grpSp>
      <p:grpSp>
        <p:nvGrpSpPr>
          <p:cNvPr id="152" name="Group 152"/>
          <p:cNvGrpSpPr/>
          <p:nvPr/>
        </p:nvGrpSpPr>
        <p:grpSpPr>
          <a:xfrm>
            <a:off x="1930060" y="8778240"/>
            <a:ext cx="3566160" cy="402336"/>
            <a:chOff x="0" y="0"/>
            <a:chExt cx="4754880" cy="536448"/>
          </a:xfrm>
        </p:grpSpPr>
        <p:sp>
          <p:nvSpPr>
            <p:cNvPr id="153" name="Freeform 153"/>
            <p:cNvSpPr/>
            <p:nvPr/>
          </p:nvSpPr>
          <p:spPr>
            <a:xfrm>
              <a:off x="0" y="0"/>
              <a:ext cx="4754880" cy="536448"/>
            </a:xfrm>
            <a:custGeom>
              <a:avLst/>
              <a:gdLst/>
              <a:ahLst/>
              <a:cxnLst/>
              <a:rect l="l" t="t" r="r" b="b"/>
              <a:pathLst>
                <a:path w="4754880" h="536448">
                  <a:moveTo>
                    <a:pt x="0" y="0"/>
                  </a:moveTo>
                  <a:lnTo>
                    <a:pt x="4754880" y="0"/>
                  </a:lnTo>
                  <a:lnTo>
                    <a:pt x="47548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2587" b="-122589"/>
              </a:stretch>
            </a:blipFill>
          </p:spPr>
        </p:sp>
      </p:grpSp>
      <p:grpSp>
        <p:nvGrpSpPr>
          <p:cNvPr id="154" name="Group 154"/>
          <p:cNvGrpSpPr/>
          <p:nvPr/>
        </p:nvGrpSpPr>
        <p:grpSpPr>
          <a:xfrm>
            <a:off x="1975104" y="8763952"/>
            <a:ext cx="3566160" cy="416624"/>
            <a:chOff x="0" y="0"/>
            <a:chExt cx="4754880" cy="555498"/>
          </a:xfrm>
        </p:grpSpPr>
        <p:sp>
          <p:nvSpPr>
            <p:cNvPr id="155" name="Freeform 155"/>
            <p:cNvSpPr/>
            <p:nvPr/>
          </p:nvSpPr>
          <p:spPr>
            <a:xfrm>
              <a:off x="0" y="0"/>
              <a:ext cx="4754880" cy="555498"/>
            </a:xfrm>
            <a:custGeom>
              <a:avLst/>
              <a:gdLst/>
              <a:ahLst/>
              <a:cxnLst/>
              <a:rect l="l" t="t" r="r" b="b"/>
              <a:pathLst>
                <a:path w="4754880" h="555498">
                  <a:moveTo>
                    <a:pt x="0" y="0"/>
                  </a:moveTo>
                  <a:lnTo>
                    <a:pt x="4754880" y="0"/>
                  </a:lnTo>
                  <a:lnTo>
                    <a:pt x="4754880" y="555498"/>
                  </a:lnTo>
                  <a:lnTo>
                    <a:pt x="0" y="55549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16785" b="-116785"/>
              </a:stretch>
            </a:blipFill>
          </p:spPr>
        </p:sp>
        <p:sp>
          <p:nvSpPr>
            <p:cNvPr id="156" name="TextBox 156"/>
            <p:cNvSpPr txBox="1"/>
            <p:nvPr/>
          </p:nvSpPr>
          <p:spPr>
            <a:xfrm>
              <a:off x="0" y="-19050"/>
              <a:ext cx="4754880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 dirty="0">
                  <a:solidFill>
                    <a:srgbClr val="12172B"/>
                  </a:solidFill>
                  <a:latin typeface="Arimo Bold"/>
                  <a:ea typeface="Arimo Bold"/>
                  <a:cs typeface="Arimo Bold"/>
                  <a:sym typeface="Arimo Bold"/>
                </a:rPr>
                <a:t>OXXO LA VENTOSA</a:t>
              </a:r>
            </a:p>
          </p:txBody>
        </p:sp>
      </p:grpSp>
      <p:grpSp>
        <p:nvGrpSpPr>
          <p:cNvPr id="157" name="Group 157"/>
          <p:cNvGrpSpPr/>
          <p:nvPr/>
        </p:nvGrpSpPr>
        <p:grpSpPr>
          <a:xfrm>
            <a:off x="1952882" y="9176642"/>
            <a:ext cx="3610642" cy="172498"/>
            <a:chOff x="0" y="0"/>
            <a:chExt cx="4814189" cy="229997"/>
          </a:xfrm>
        </p:grpSpPr>
        <p:sp>
          <p:nvSpPr>
            <p:cNvPr id="158" name="Freeform 158"/>
            <p:cNvSpPr/>
            <p:nvPr/>
          </p:nvSpPr>
          <p:spPr>
            <a:xfrm>
              <a:off x="0" y="0"/>
              <a:ext cx="4814189" cy="229997"/>
            </a:xfrm>
            <a:custGeom>
              <a:avLst/>
              <a:gdLst/>
              <a:ahLst/>
              <a:cxnLst/>
              <a:rect l="l" t="t" r="r" b="b"/>
              <a:pathLst>
                <a:path w="4814189" h="229997">
                  <a:moveTo>
                    <a:pt x="0" y="0"/>
                  </a:moveTo>
                  <a:lnTo>
                    <a:pt x="4814189" y="0"/>
                  </a:lnTo>
                  <a:lnTo>
                    <a:pt x="4814189" y="229997"/>
                  </a:lnTo>
                  <a:lnTo>
                    <a:pt x="0" y="229997"/>
                  </a:lnTo>
                  <a:close/>
                </a:path>
              </a:pathLst>
            </a:custGeom>
            <a:solidFill>
              <a:srgbClr val="D7DBE3"/>
            </a:solidFill>
            <a:ln w="25400" cap="sq">
              <a:solidFill>
                <a:srgbClr val="D7DBE3"/>
              </a:solidFill>
              <a:prstDash val="solid"/>
              <a:miter/>
            </a:ln>
          </p:spPr>
        </p:sp>
      </p:grpSp>
      <p:grpSp>
        <p:nvGrpSpPr>
          <p:cNvPr id="159" name="Group 159"/>
          <p:cNvGrpSpPr/>
          <p:nvPr/>
        </p:nvGrpSpPr>
        <p:grpSpPr>
          <a:xfrm>
            <a:off x="1931432" y="9168175"/>
            <a:ext cx="3632092" cy="169088"/>
            <a:chOff x="0" y="1"/>
            <a:chExt cx="4842789" cy="225451"/>
          </a:xfrm>
        </p:grpSpPr>
        <p:sp>
          <p:nvSpPr>
            <p:cNvPr id="160" name="Freeform 160"/>
            <p:cNvSpPr/>
            <p:nvPr/>
          </p:nvSpPr>
          <p:spPr>
            <a:xfrm>
              <a:off x="0" y="1"/>
              <a:ext cx="4842789" cy="225451"/>
            </a:xfrm>
            <a:custGeom>
              <a:avLst/>
              <a:gdLst/>
              <a:ahLst/>
              <a:cxnLst/>
              <a:rect l="l" t="t" r="r" b="b"/>
              <a:pathLst>
                <a:path w="4059174" h="241935">
                  <a:moveTo>
                    <a:pt x="0" y="0"/>
                  </a:moveTo>
                  <a:lnTo>
                    <a:pt x="4059174" y="0"/>
                  </a:lnTo>
                  <a:lnTo>
                    <a:pt x="4059174" y="241935"/>
                  </a:lnTo>
                  <a:lnTo>
                    <a:pt x="0" y="241935"/>
                  </a:lnTo>
                  <a:close/>
                </a:path>
              </a:pathLst>
            </a:custGeom>
            <a:solidFill>
              <a:srgbClr val="E3000F"/>
            </a:solidFill>
            <a:ln w="25400" cap="sq">
              <a:solidFill>
                <a:srgbClr val="E3000F"/>
              </a:solidFill>
              <a:prstDash val="solid"/>
              <a:miter/>
            </a:ln>
          </p:spPr>
        </p:sp>
      </p:grpSp>
      <p:grpSp>
        <p:nvGrpSpPr>
          <p:cNvPr id="161" name="Group 161"/>
          <p:cNvGrpSpPr/>
          <p:nvPr/>
        </p:nvGrpSpPr>
        <p:grpSpPr>
          <a:xfrm>
            <a:off x="5537254" y="5334343"/>
            <a:ext cx="995563" cy="579234"/>
            <a:chOff x="0" y="0"/>
            <a:chExt cx="1327417" cy="772312"/>
          </a:xfrm>
        </p:grpSpPr>
        <p:sp>
          <p:nvSpPr>
            <p:cNvPr id="162" name="Freeform 162"/>
            <p:cNvSpPr/>
            <p:nvPr/>
          </p:nvSpPr>
          <p:spPr>
            <a:xfrm>
              <a:off x="0" y="0"/>
              <a:ext cx="1327404" cy="772287"/>
            </a:xfrm>
            <a:custGeom>
              <a:avLst/>
              <a:gdLst/>
              <a:ahLst/>
              <a:cxnLst/>
              <a:rect l="l" t="t" r="r" b="b"/>
              <a:pathLst>
                <a:path w="1327404" h="772287">
                  <a:moveTo>
                    <a:pt x="0" y="0"/>
                  </a:moveTo>
                  <a:lnTo>
                    <a:pt x="1327404" y="0"/>
                  </a:lnTo>
                  <a:lnTo>
                    <a:pt x="1327404" y="772287"/>
                  </a:lnTo>
                  <a:lnTo>
                    <a:pt x="0" y="77228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701" r="-24702" b="-3"/>
              </a:stretch>
            </a:blipFill>
          </p:spPr>
        </p:sp>
      </p:grpSp>
      <p:grpSp>
        <p:nvGrpSpPr>
          <p:cNvPr id="163" name="Group 163"/>
          <p:cNvGrpSpPr/>
          <p:nvPr/>
        </p:nvGrpSpPr>
        <p:grpSpPr>
          <a:xfrm>
            <a:off x="5537254" y="5320198"/>
            <a:ext cx="995563" cy="593379"/>
            <a:chOff x="0" y="0"/>
            <a:chExt cx="1327417" cy="791172"/>
          </a:xfrm>
        </p:grpSpPr>
        <p:sp>
          <p:nvSpPr>
            <p:cNvPr id="164" name="Freeform 164"/>
            <p:cNvSpPr/>
            <p:nvPr/>
          </p:nvSpPr>
          <p:spPr>
            <a:xfrm>
              <a:off x="0" y="0"/>
              <a:ext cx="1327419" cy="791171"/>
            </a:xfrm>
            <a:custGeom>
              <a:avLst/>
              <a:gdLst/>
              <a:ahLst/>
              <a:cxnLst/>
              <a:rect l="l" t="t" r="r" b="b"/>
              <a:pathLst>
                <a:path w="1327419" h="791171">
                  <a:moveTo>
                    <a:pt x="0" y="0"/>
                  </a:moveTo>
                  <a:lnTo>
                    <a:pt x="1327419" y="0"/>
                  </a:lnTo>
                  <a:lnTo>
                    <a:pt x="1327419" y="791171"/>
                  </a:lnTo>
                  <a:lnTo>
                    <a:pt x="0" y="79117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6471" r="-26471"/>
              </a:stretch>
            </a:blipFill>
          </p:spPr>
        </p:sp>
        <p:sp>
          <p:nvSpPr>
            <p:cNvPr id="165" name="TextBox 165"/>
            <p:cNvSpPr txBox="1"/>
            <p:nvPr/>
          </p:nvSpPr>
          <p:spPr>
            <a:xfrm>
              <a:off x="0" y="-19050"/>
              <a:ext cx="1327417" cy="81022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38"/>
                </a:lnSpc>
              </a:pPr>
              <a:r>
                <a:rPr lang="en-US" sz="1699" b="1" dirty="0">
                  <a:solidFill>
                    <a:srgbClr val="E3000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 vac.</a:t>
              </a:r>
            </a:p>
          </p:txBody>
        </p:sp>
      </p:grpSp>
      <p:grpSp>
        <p:nvGrpSpPr>
          <p:cNvPr id="166" name="Group 166"/>
          <p:cNvGrpSpPr/>
          <p:nvPr/>
        </p:nvGrpSpPr>
        <p:grpSpPr>
          <a:xfrm>
            <a:off x="5537254" y="6239399"/>
            <a:ext cx="995563" cy="579234"/>
            <a:chOff x="0" y="0"/>
            <a:chExt cx="1327417" cy="772312"/>
          </a:xfrm>
        </p:grpSpPr>
        <p:sp>
          <p:nvSpPr>
            <p:cNvPr id="167" name="Freeform 167"/>
            <p:cNvSpPr/>
            <p:nvPr/>
          </p:nvSpPr>
          <p:spPr>
            <a:xfrm>
              <a:off x="0" y="0"/>
              <a:ext cx="1327404" cy="772287"/>
            </a:xfrm>
            <a:custGeom>
              <a:avLst/>
              <a:gdLst/>
              <a:ahLst/>
              <a:cxnLst/>
              <a:rect l="l" t="t" r="r" b="b"/>
              <a:pathLst>
                <a:path w="1327404" h="772287">
                  <a:moveTo>
                    <a:pt x="0" y="0"/>
                  </a:moveTo>
                  <a:lnTo>
                    <a:pt x="1327404" y="0"/>
                  </a:lnTo>
                  <a:lnTo>
                    <a:pt x="1327404" y="772287"/>
                  </a:lnTo>
                  <a:lnTo>
                    <a:pt x="0" y="77228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701" r="-24702" b="-3"/>
              </a:stretch>
            </a:blipFill>
          </p:spPr>
        </p:sp>
      </p:grpSp>
      <p:grpSp>
        <p:nvGrpSpPr>
          <p:cNvPr id="168" name="Group 168"/>
          <p:cNvGrpSpPr/>
          <p:nvPr/>
        </p:nvGrpSpPr>
        <p:grpSpPr>
          <a:xfrm>
            <a:off x="5537254" y="6225254"/>
            <a:ext cx="995563" cy="593379"/>
            <a:chOff x="0" y="0"/>
            <a:chExt cx="1327417" cy="791172"/>
          </a:xfrm>
        </p:grpSpPr>
        <p:sp>
          <p:nvSpPr>
            <p:cNvPr id="169" name="Freeform 169"/>
            <p:cNvSpPr/>
            <p:nvPr/>
          </p:nvSpPr>
          <p:spPr>
            <a:xfrm>
              <a:off x="0" y="0"/>
              <a:ext cx="1327419" cy="791171"/>
            </a:xfrm>
            <a:custGeom>
              <a:avLst/>
              <a:gdLst/>
              <a:ahLst/>
              <a:cxnLst/>
              <a:rect l="l" t="t" r="r" b="b"/>
              <a:pathLst>
                <a:path w="1327419" h="791171">
                  <a:moveTo>
                    <a:pt x="0" y="0"/>
                  </a:moveTo>
                  <a:lnTo>
                    <a:pt x="1327419" y="0"/>
                  </a:lnTo>
                  <a:lnTo>
                    <a:pt x="1327419" y="791171"/>
                  </a:lnTo>
                  <a:lnTo>
                    <a:pt x="0" y="79117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6471" r="-26471"/>
              </a:stretch>
            </a:blipFill>
          </p:spPr>
        </p:sp>
        <p:sp>
          <p:nvSpPr>
            <p:cNvPr id="170" name="TextBox 170"/>
            <p:cNvSpPr txBox="1"/>
            <p:nvPr/>
          </p:nvSpPr>
          <p:spPr>
            <a:xfrm>
              <a:off x="0" y="-19050"/>
              <a:ext cx="1327417" cy="81022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38"/>
                </a:lnSpc>
              </a:pPr>
              <a:r>
                <a:rPr lang="en-US" sz="1699" b="1">
                  <a:solidFill>
                    <a:srgbClr val="E3000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 vac.</a:t>
              </a:r>
            </a:p>
          </p:txBody>
        </p:sp>
      </p:grpSp>
      <p:grpSp>
        <p:nvGrpSpPr>
          <p:cNvPr id="171" name="Group 171"/>
          <p:cNvGrpSpPr/>
          <p:nvPr/>
        </p:nvGrpSpPr>
        <p:grpSpPr>
          <a:xfrm>
            <a:off x="5537254" y="7144455"/>
            <a:ext cx="995563" cy="579234"/>
            <a:chOff x="0" y="0"/>
            <a:chExt cx="1327417" cy="772312"/>
          </a:xfrm>
        </p:grpSpPr>
        <p:sp>
          <p:nvSpPr>
            <p:cNvPr id="172" name="Freeform 172"/>
            <p:cNvSpPr/>
            <p:nvPr/>
          </p:nvSpPr>
          <p:spPr>
            <a:xfrm>
              <a:off x="0" y="0"/>
              <a:ext cx="1327404" cy="772287"/>
            </a:xfrm>
            <a:custGeom>
              <a:avLst/>
              <a:gdLst/>
              <a:ahLst/>
              <a:cxnLst/>
              <a:rect l="l" t="t" r="r" b="b"/>
              <a:pathLst>
                <a:path w="1327404" h="772287">
                  <a:moveTo>
                    <a:pt x="0" y="0"/>
                  </a:moveTo>
                  <a:lnTo>
                    <a:pt x="1327404" y="0"/>
                  </a:lnTo>
                  <a:lnTo>
                    <a:pt x="1327404" y="772287"/>
                  </a:lnTo>
                  <a:lnTo>
                    <a:pt x="0" y="77228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701" r="-24702" b="-3"/>
              </a:stretch>
            </a:blipFill>
          </p:spPr>
        </p:sp>
      </p:grpSp>
      <p:grpSp>
        <p:nvGrpSpPr>
          <p:cNvPr id="173" name="Group 173"/>
          <p:cNvGrpSpPr/>
          <p:nvPr/>
        </p:nvGrpSpPr>
        <p:grpSpPr>
          <a:xfrm>
            <a:off x="5537254" y="7130320"/>
            <a:ext cx="995563" cy="593379"/>
            <a:chOff x="0" y="0"/>
            <a:chExt cx="1327417" cy="791172"/>
          </a:xfrm>
        </p:grpSpPr>
        <p:sp>
          <p:nvSpPr>
            <p:cNvPr id="174" name="Freeform 174"/>
            <p:cNvSpPr/>
            <p:nvPr/>
          </p:nvSpPr>
          <p:spPr>
            <a:xfrm>
              <a:off x="0" y="0"/>
              <a:ext cx="1327419" cy="791171"/>
            </a:xfrm>
            <a:custGeom>
              <a:avLst/>
              <a:gdLst/>
              <a:ahLst/>
              <a:cxnLst/>
              <a:rect l="l" t="t" r="r" b="b"/>
              <a:pathLst>
                <a:path w="1327419" h="791171">
                  <a:moveTo>
                    <a:pt x="0" y="0"/>
                  </a:moveTo>
                  <a:lnTo>
                    <a:pt x="1327419" y="0"/>
                  </a:lnTo>
                  <a:lnTo>
                    <a:pt x="1327419" y="791171"/>
                  </a:lnTo>
                  <a:lnTo>
                    <a:pt x="0" y="79117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6471" r="-26471"/>
              </a:stretch>
            </a:blipFill>
          </p:spPr>
        </p:sp>
        <p:sp>
          <p:nvSpPr>
            <p:cNvPr id="175" name="TextBox 175"/>
            <p:cNvSpPr txBox="1"/>
            <p:nvPr/>
          </p:nvSpPr>
          <p:spPr>
            <a:xfrm>
              <a:off x="0" y="-19050"/>
              <a:ext cx="1327417" cy="81022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38"/>
                </a:lnSpc>
              </a:pPr>
              <a:r>
                <a:rPr lang="en-US" sz="1699" b="1">
                  <a:solidFill>
                    <a:srgbClr val="E3000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 vac.</a:t>
              </a:r>
            </a:p>
          </p:txBody>
        </p:sp>
      </p:grpSp>
      <p:grpSp>
        <p:nvGrpSpPr>
          <p:cNvPr id="176" name="Group 176"/>
          <p:cNvGrpSpPr/>
          <p:nvPr/>
        </p:nvGrpSpPr>
        <p:grpSpPr>
          <a:xfrm>
            <a:off x="5537254" y="8049520"/>
            <a:ext cx="995563" cy="579234"/>
            <a:chOff x="0" y="0"/>
            <a:chExt cx="1327417" cy="772312"/>
          </a:xfrm>
        </p:grpSpPr>
        <p:sp>
          <p:nvSpPr>
            <p:cNvPr id="177" name="Freeform 177"/>
            <p:cNvSpPr/>
            <p:nvPr/>
          </p:nvSpPr>
          <p:spPr>
            <a:xfrm>
              <a:off x="0" y="0"/>
              <a:ext cx="1327404" cy="772287"/>
            </a:xfrm>
            <a:custGeom>
              <a:avLst/>
              <a:gdLst/>
              <a:ahLst/>
              <a:cxnLst/>
              <a:rect l="l" t="t" r="r" b="b"/>
              <a:pathLst>
                <a:path w="1327404" h="772287">
                  <a:moveTo>
                    <a:pt x="0" y="0"/>
                  </a:moveTo>
                  <a:lnTo>
                    <a:pt x="1327404" y="0"/>
                  </a:lnTo>
                  <a:lnTo>
                    <a:pt x="1327404" y="772287"/>
                  </a:lnTo>
                  <a:lnTo>
                    <a:pt x="0" y="77228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701" r="-24702" b="-3"/>
              </a:stretch>
            </a:blipFill>
          </p:spPr>
        </p:sp>
      </p:grpSp>
      <p:grpSp>
        <p:nvGrpSpPr>
          <p:cNvPr id="178" name="Group 178"/>
          <p:cNvGrpSpPr/>
          <p:nvPr/>
        </p:nvGrpSpPr>
        <p:grpSpPr>
          <a:xfrm>
            <a:off x="5537254" y="8035376"/>
            <a:ext cx="995563" cy="593379"/>
            <a:chOff x="0" y="0"/>
            <a:chExt cx="1327417" cy="791172"/>
          </a:xfrm>
        </p:grpSpPr>
        <p:sp>
          <p:nvSpPr>
            <p:cNvPr id="179" name="Freeform 179"/>
            <p:cNvSpPr/>
            <p:nvPr/>
          </p:nvSpPr>
          <p:spPr>
            <a:xfrm>
              <a:off x="0" y="0"/>
              <a:ext cx="1327419" cy="791171"/>
            </a:xfrm>
            <a:custGeom>
              <a:avLst/>
              <a:gdLst/>
              <a:ahLst/>
              <a:cxnLst/>
              <a:rect l="l" t="t" r="r" b="b"/>
              <a:pathLst>
                <a:path w="1327419" h="791171">
                  <a:moveTo>
                    <a:pt x="0" y="0"/>
                  </a:moveTo>
                  <a:lnTo>
                    <a:pt x="1327419" y="0"/>
                  </a:lnTo>
                  <a:lnTo>
                    <a:pt x="1327419" y="791171"/>
                  </a:lnTo>
                  <a:lnTo>
                    <a:pt x="0" y="79117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6471" r="-26471"/>
              </a:stretch>
            </a:blipFill>
          </p:spPr>
        </p:sp>
        <p:sp>
          <p:nvSpPr>
            <p:cNvPr id="180" name="TextBox 180"/>
            <p:cNvSpPr txBox="1"/>
            <p:nvPr/>
          </p:nvSpPr>
          <p:spPr>
            <a:xfrm>
              <a:off x="0" y="-19050"/>
              <a:ext cx="1327417" cy="81022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38"/>
                </a:lnSpc>
              </a:pPr>
              <a:r>
                <a:rPr lang="en-US" sz="1699" b="1">
                  <a:solidFill>
                    <a:srgbClr val="E3000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 vac.</a:t>
              </a:r>
            </a:p>
          </p:txBody>
        </p:sp>
      </p:grpSp>
      <p:grpSp>
        <p:nvGrpSpPr>
          <p:cNvPr id="181" name="Group 181"/>
          <p:cNvGrpSpPr/>
          <p:nvPr/>
        </p:nvGrpSpPr>
        <p:grpSpPr>
          <a:xfrm>
            <a:off x="5537254" y="8954576"/>
            <a:ext cx="995563" cy="579234"/>
            <a:chOff x="0" y="0"/>
            <a:chExt cx="1327417" cy="772312"/>
          </a:xfrm>
        </p:grpSpPr>
        <p:sp>
          <p:nvSpPr>
            <p:cNvPr id="182" name="Freeform 182"/>
            <p:cNvSpPr/>
            <p:nvPr/>
          </p:nvSpPr>
          <p:spPr>
            <a:xfrm>
              <a:off x="0" y="0"/>
              <a:ext cx="1327404" cy="772287"/>
            </a:xfrm>
            <a:custGeom>
              <a:avLst/>
              <a:gdLst/>
              <a:ahLst/>
              <a:cxnLst/>
              <a:rect l="l" t="t" r="r" b="b"/>
              <a:pathLst>
                <a:path w="1327404" h="772287">
                  <a:moveTo>
                    <a:pt x="0" y="0"/>
                  </a:moveTo>
                  <a:lnTo>
                    <a:pt x="1327404" y="0"/>
                  </a:lnTo>
                  <a:lnTo>
                    <a:pt x="1327404" y="772287"/>
                  </a:lnTo>
                  <a:lnTo>
                    <a:pt x="0" y="77228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701" r="-24702" b="-3"/>
              </a:stretch>
            </a:blipFill>
          </p:spPr>
        </p:sp>
      </p:grpSp>
      <p:grpSp>
        <p:nvGrpSpPr>
          <p:cNvPr id="183" name="Group 183"/>
          <p:cNvGrpSpPr/>
          <p:nvPr/>
        </p:nvGrpSpPr>
        <p:grpSpPr>
          <a:xfrm>
            <a:off x="5537254" y="8940432"/>
            <a:ext cx="995563" cy="593379"/>
            <a:chOff x="0" y="0"/>
            <a:chExt cx="1327417" cy="791172"/>
          </a:xfrm>
        </p:grpSpPr>
        <p:sp>
          <p:nvSpPr>
            <p:cNvPr id="184" name="Freeform 184"/>
            <p:cNvSpPr/>
            <p:nvPr/>
          </p:nvSpPr>
          <p:spPr>
            <a:xfrm>
              <a:off x="0" y="0"/>
              <a:ext cx="1327419" cy="791171"/>
            </a:xfrm>
            <a:custGeom>
              <a:avLst/>
              <a:gdLst/>
              <a:ahLst/>
              <a:cxnLst/>
              <a:rect l="l" t="t" r="r" b="b"/>
              <a:pathLst>
                <a:path w="1327419" h="791171">
                  <a:moveTo>
                    <a:pt x="0" y="0"/>
                  </a:moveTo>
                  <a:lnTo>
                    <a:pt x="1327419" y="0"/>
                  </a:lnTo>
                  <a:lnTo>
                    <a:pt x="1327419" y="791171"/>
                  </a:lnTo>
                  <a:lnTo>
                    <a:pt x="0" y="79117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6471" r="-26471"/>
              </a:stretch>
            </a:blipFill>
          </p:spPr>
        </p:sp>
        <p:sp>
          <p:nvSpPr>
            <p:cNvPr id="185" name="TextBox 185"/>
            <p:cNvSpPr txBox="1"/>
            <p:nvPr/>
          </p:nvSpPr>
          <p:spPr>
            <a:xfrm>
              <a:off x="0" y="-19050"/>
              <a:ext cx="1327417" cy="81022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38"/>
                </a:lnSpc>
              </a:pPr>
              <a:r>
                <a:rPr lang="en-US" sz="1699" b="1">
                  <a:solidFill>
                    <a:srgbClr val="E3000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 vac.</a:t>
              </a:r>
            </a:p>
          </p:txBody>
        </p:sp>
      </p:grpSp>
      <p:sp>
        <p:nvSpPr>
          <p:cNvPr id="186" name="Freeform 186"/>
          <p:cNvSpPr/>
          <p:nvPr/>
        </p:nvSpPr>
        <p:spPr>
          <a:xfrm>
            <a:off x="6733861" y="4147442"/>
            <a:ext cx="11038065" cy="5439346"/>
          </a:xfrm>
          <a:custGeom>
            <a:avLst/>
            <a:gdLst/>
            <a:ahLst/>
            <a:cxnLst/>
            <a:rect l="l" t="t" r="r" b="b"/>
            <a:pathLst>
              <a:path w="11038065" h="5439346">
                <a:moveTo>
                  <a:pt x="0" y="0"/>
                </a:moveTo>
                <a:lnTo>
                  <a:pt x="11038065" y="0"/>
                </a:lnTo>
                <a:lnTo>
                  <a:pt x="11038065" y="5439347"/>
                </a:lnTo>
                <a:lnTo>
                  <a:pt x="0" y="5439347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</p:spPr>
      </p:sp>
      <p:sp>
        <p:nvSpPr>
          <p:cNvPr id="187" name="Freeform 187"/>
          <p:cNvSpPr/>
          <p:nvPr/>
        </p:nvSpPr>
        <p:spPr>
          <a:xfrm>
            <a:off x="7110098" y="4586354"/>
            <a:ext cx="227362" cy="227266"/>
          </a:xfrm>
          <a:custGeom>
            <a:avLst/>
            <a:gdLst/>
            <a:ahLst/>
            <a:cxnLst/>
            <a:rect l="l" t="t" r="r" b="b"/>
            <a:pathLst>
              <a:path w="227362" h="227266">
                <a:moveTo>
                  <a:pt x="0" y="0"/>
                </a:moveTo>
                <a:lnTo>
                  <a:pt x="227362" y="0"/>
                </a:lnTo>
                <a:lnTo>
                  <a:pt x="227362" y="227267"/>
                </a:lnTo>
                <a:lnTo>
                  <a:pt x="0" y="227267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a:blipFill>
        </p:spPr>
      </p:sp>
      <p:grpSp>
        <p:nvGrpSpPr>
          <p:cNvPr id="188" name="Group 188"/>
          <p:cNvGrpSpPr/>
          <p:nvPr/>
        </p:nvGrpSpPr>
        <p:grpSpPr>
          <a:xfrm>
            <a:off x="7498080" y="4425696"/>
            <a:ext cx="4023360" cy="512064"/>
            <a:chOff x="0" y="0"/>
            <a:chExt cx="5364480" cy="682752"/>
          </a:xfrm>
        </p:grpSpPr>
        <p:sp>
          <p:nvSpPr>
            <p:cNvPr id="189" name="Freeform 189"/>
            <p:cNvSpPr/>
            <p:nvPr/>
          </p:nvSpPr>
          <p:spPr>
            <a:xfrm>
              <a:off x="0" y="0"/>
              <a:ext cx="5364480" cy="682752"/>
            </a:xfrm>
            <a:custGeom>
              <a:avLst/>
              <a:gdLst/>
              <a:ahLst/>
              <a:cxnLst/>
              <a:rect l="l" t="t" r="r" b="b"/>
              <a:pathLst>
                <a:path w="5364480" h="682752">
                  <a:moveTo>
                    <a:pt x="0" y="0"/>
                  </a:moveTo>
                  <a:lnTo>
                    <a:pt x="5364480" y="0"/>
                  </a:lnTo>
                  <a:lnTo>
                    <a:pt x="53644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2991" b="-102989"/>
              </a:stretch>
            </a:blipFill>
          </p:spPr>
        </p:sp>
      </p:grpSp>
      <p:grpSp>
        <p:nvGrpSpPr>
          <p:cNvPr id="190" name="Group 190"/>
          <p:cNvGrpSpPr/>
          <p:nvPr/>
        </p:nvGrpSpPr>
        <p:grpSpPr>
          <a:xfrm>
            <a:off x="7498080" y="4418552"/>
            <a:ext cx="4023360" cy="519208"/>
            <a:chOff x="0" y="0"/>
            <a:chExt cx="5364480" cy="692277"/>
          </a:xfrm>
        </p:grpSpPr>
        <p:sp>
          <p:nvSpPr>
            <p:cNvPr id="191" name="Freeform 191"/>
            <p:cNvSpPr/>
            <p:nvPr/>
          </p:nvSpPr>
          <p:spPr>
            <a:xfrm>
              <a:off x="0" y="0"/>
              <a:ext cx="5364480" cy="692277"/>
            </a:xfrm>
            <a:custGeom>
              <a:avLst/>
              <a:gdLst/>
              <a:ahLst/>
              <a:cxnLst/>
              <a:rect l="l" t="t" r="r" b="b"/>
              <a:pathLst>
                <a:path w="5364480" h="692277">
                  <a:moveTo>
                    <a:pt x="0" y="0"/>
                  </a:moveTo>
                  <a:lnTo>
                    <a:pt x="5364480" y="0"/>
                  </a:lnTo>
                  <a:lnTo>
                    <a:pt x="5364480" y="692277"/>
                  </a:lnTo>
                  <a:lnTo>
                    <a:pt x="0" y="69227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00990" b="-100990"/>
              </a:stretch>
            </a:blipFill>
          </p:spPr>
        </p:sp>
        <p:sp>
          <p:nvSpPr>
            <p:cNvPr id="192" name="TextBox 192"/>
            <p:cNvSpPr txBox="1"/>
            <p:nvPr/>
          </p:nvSpPr>
          <p:spPr>
            <a:xfrm>
              <a:off x="0" y="-9525"/>
              <a:ext cx="5364480" cy="70180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 b="1">
                  <a:solidFill>
                    <a:srgbClr val="111C3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Distribución por Puesto</a:t>
              </a:r>
            </a:p>
          </p:txBody>
        </p:sp>
      </p:grpSp>
      <p:sp>
        <p:nvSpPr>
          <p:cNvPr id="194" name="TextBox 194"/>
          <p:cNvSpPr txBox="1"/>
          <p:nvPr/>
        </p:nvSpPr>
        <p:spPr>
          <a:xfrm>
            <a:off x="1298448" y="2659380"/>
            <a:ext cx="856650" cy="7169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1" dirty="0">
                <a:solidFill>
                  <a:srgbClr val="12172B"/>
                </a:solidFill>
                <a:latin typeface="Arimo Bold"/>
                <a:ea typeface="Arimo Bold"/>
                <a:cs typeface="Arimo Bold"/>
                <a:sym typeface="Arimo Bold"/>
              </a:rPr>
              <a:t>37</a:t>
            </a:r>
          </a:p>
        </p:txBody>
      </p:sp>
      <p:sp>
        <p:nvSpPr>
          <p:cNvPr id="196" name="TextBox 196"/>
          <p:cNvSpPr txBox="1"/>
          <p:nvPr/>
        </p:nvSpPr>
        <p:spPr>
          <a:xfrm>
            <a:off x="4913024" y="2658604"/>
            <a:ext cx="339033" cy="7169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1" dirty="0">
                <a:solidFill>
                  <a:srgbClr val="12172B"/>
                </a:solidFill>
                <a:latin typeface="Arimo Bold"/>
                <a:ea typeface="Arimo Bold"/>
                <a:cs typeface="Arimo Bold"/>
                <a:sym typeface="Arimo Bold"/>
              </a:rPr>
              <a:t>7</a:t>
            </a:r>
          </a:p>
        </p:txBody>
      </p:sp>
      <p:sp>
        <p:nvSpPr>
          <p:cNvPr id="197" name="TextBox 197"/>
          <p:cNvSpPr txBox="1"/>
          <p:nvPr/>
        </p:nvSpPr>
        <p:spPr>
          <a:xfrm>
            <a:off x="8532963" y="2671729"/>
            <a:ext cx="841248" cy="7169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1" dirty="0">
                <a:solidFill>
                  <a:srgbClr val="12172B"/>
                </a:solidFill>
                <a:latin typeface="Arimo Bold"/>
                <a:ea typeface="Arimo Bold"/>
                <a:cs typeface="Arimo Bold"/>
                <a:sym typeface="Arimo Bold"/>
              </a:rPr>
              <a:t>30</a:t>
            </a:r>
          </a:p>
        </p:txBody>
      </p:sp>
      <p:sp>
        <p:nvSpPr>
          <p:cNvPr id="198" name="TextBox 198"/>
          <p:cNvSpPr txBox="1"/>
          <p:nvPr/>
        </p:nvSpPr>
        <p:spPr>
          <a:xfrm>
            <a:off x="12137073" y="2644026"/>
            <a:ext cx="2523744" cy="7169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1" dirty="0">
                <a:solidFill>
                  <a:srgbClr val="12172B"/>
                </a:solidFill>
                <a:latin typeface="Arimo Bold"/>
                <a:ea typeface="Arimo Bold"/>
                <a:cs typeface="Arimo Bold"/>
                <a:sym typeface="Arimo Bold"/>
              </a:rPr>
              <a:t>28 días</a:t>
            </a:r>
          </a:p>
        </p:txBody>
      </p:sp>
      <p:pic>
        <p:nvPicPr>
          <p:cNvPr id="200" name="Imagen 199">
            <a:extLst>
              <a:ext uri="{FF2B5EF4-FFF2-40B4-BE49-F238E27FC236}">
                <a16:creationId xmlns:a16="http://schemas.microsoft.com/office/drawing/2014/main" id="{2DE6ACAF-07C7-4B1F-9042-E7B73D8D4599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835647" y="5151644"/>
            <a:ext cx="5737345" cy="422538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908047" y="185761"/>
            <a:ext cx="16459200" cy="548640"/>
            <a:chOff x="0" y="0"/>
            <a:chExt cx="21945600" cy="73152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945600" cy="731520"/>
            </a:xfrm>
            <a:custGeom>
              <a:avLst/>
              <a:gdLst/>
              <a:ahLst/>
              <a:cxnLst/>
              <a:rect l="l" t="t" r="r" b="b"/>
              <a:pathLst>
                <a:path w="21945600" h="73152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34144" b="-534145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908047" y="171474"/>
            <a:ext cx="16459200" cy="562928"/>
            <a:chOff x="0" y="0"/>
            <a:chExt cx="21945600" cy="75057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945600" cy="750570"/>
            </a:xfrm>
            <a:custGeom>
              <a:avLst/>
              <a:gdLst/>
              <a:ahLst/>
              <a:cxnLst/>
              <a:rect l="l" t="t" r="r" b="b"/>
              <a:pathLst>
                <a:path w="21945600" h="750570">
                  <a:moveTo>
                    <a:pt x="0" y="0"/>
                  </a:moveTo>
                  <a:lnTo>
                    <a:pt x="21945600" y="0"/>
                  </a:lnTo>
                  <a:lnTo>
                    <a:pt x="21945600" y="750570"/>
                  </a:lnTo>
                  <a:lnTo>
                    <a:pt x="0" y="7505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19714" b="-519714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2194560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 spc="399">
                  <a:solidFill>
                    <a:srgbClr val="E3000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INDICADOR 2 DE 6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20753" y="497019"/>
            <a:ext cx="16459200" cy="1139085"/>
            <a:chOff x="0" y="0"/>
            <a:chExt cx="21945600" cy="151878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945600" cy="1518793"/>
            </a:xfrm>
            <a:custGeom>
              <a:avLst/>
              <a:gdLst/>
              <a:ahLst/>
              <a:cxnLst/>
              <a:rect l="l" t="t" r="r" b="b"/>
              <a:pathLst>
                <a:path w="21945600" h="1518793">
                  <a:moveTo>
                    <a:pt x="0" y="0"/>
                  </a:moveTo>
                  <a:lnTo>
                    <a:pt x="21945600" y="0"/>
                  </a:lnTo>
                  <a:lnTo>
                    <a:pt x="21945600" y="1518793"/>
                  </a:lnTo>
                  <a:lnTo>
                    <a:pt x="0" y="151879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1351" b="-231350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920753" y="468444"/>
            <a:ext cx="16459200" cy="1167660"/>
            <a:chOff x="0" y="0"/>
            <a:chExt cx="21945600" cy="155688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1945600" cy="1556875"/>
            </a:xfrm>
            <a:custGeom>
              <a:avLst/>
              <a:gdLst/>
              <a:ahLst/>
              <a:cxnLst/>
              <a:rect l="l" t="t" r="r" b="b"/>
              <a:pathLst>
                <a:path w="21945600" h="1556875">
                  <a:moveTo>
                    <a:pt x="0" y="0"/>
                  </a:moveTo>
                  <a:lnTo>
                    <a:pt x="21945600" y="0"/>
                  </a:lnTo>
                  <a:lnTo>
                    <a:pt x="21945600" y="1556875"/>
                  </a:lnTo>
                  <a:lnTo>
                    <a:pt x="0" y="155687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24659" b="-224659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1945600" cy="15949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718"/>
                </a:lnSpc>
              </a:pPr>
              <a:r>
                <a:rPr lang="en-US" sz="5599" b="1">
                  <a:solidFill>
                    <a:srgbClr val="111C3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Bajas — Compromiso vs Resultado</a:t>
              </a:r>
            </a:p>
          </p:txBody>
        </p:sp>
      </p:grpSp>
      <p:sp>
        <p:nvSpPr>
          <p:cNvPr id="13" name="Freeform 13"/>
          <p:cNvSpPr/>
          <p:nvPr/>
        </p:nvSpPr>
        <p:spPr>
          <a:xfrm>
            <a:off x="16711298" y="672722"/>
            <a:ext cx="1141762" cy="629698"/>
          </a:xfrm>
          <a:custGeom>
            <a:avLst/>
            <a:gdLst/>
            <a:ahLst/>
            <a:cxnLst/>
            <a:rect l="l" t="t" r="r" b="b"/>
            <a:pathLst>
              <a:path w="1141762" h="629698">
                <a:moveTo>
                  <a:pt x="0" y="0"/>
                </a:moveTo>
                <a:lnTo>
                  <a:pt x="1141762" y="0"/>
                </a:lnTo>
                <a:lnTo>
                  <a:pt x="1141762" y="629698"/>
                </a:lnTo>
                <a:lnTo>
                  <a:pt x="0" y="6296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14" name="Group 14"/>
          <p:cNvGrpSpPr/>
          <p:nvPr/>
        </p:nvGrpSpPr>
        <p:grpSpPr>
          <a:xfrm>
            <a:off x="16733520" y="694944"/>
            <a:ext cx="1097280" cy="585216"/>
            <a:chOff x="0" y="0"/>
            <a:chExt cx="1463040" cy="78028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463040" cy="780288"/>
            </a:xfrm>
            <a:custGeom>
              <a:avLst/>
              <a:gdLst/>
              <a:ahLst/>
              <a:cxnLst/>
              <a:rect l="l" t="t" r="r" b="b"/>
              <a:pathLst>
                <a:path w="1463040" h="780288">
                  <a:moveTo>
                    <a:pt x="0" y="0"/>
                  </a:moveTo>
                  <a:lnTo>
                    <a:pt x="1463040" y="0"/>
                  </a:lnTo>
                  <a:lnTo>
                    <a:pt x="14630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476" r="-18475"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>
            <a:off x="16733520" y="687800"/>
            <a:ext cx="1097280" cy="592360"/>
            <a:chOff x="0" y="0"/>
            <a:chExt cx="1463040" cy="78981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463040" cy="789813"/>
            </a:xfrm>
            <a:custGeom>
              <a:avLst/>
              <a:gdLst/>
              <a:ahLst/>
              <a:cxnLst/>
              <a:rect l="l" t="t" r="r" b="b"/>
              <a:pathLst>
                <a:path w="1463040" h="789813">
                  <a:moveTo>
                    <a:pt x="0" y="0"/>
                  </a:moveTo>
                  <a:lnTo>
                    <a:pt x="1463040" y="0"/>
                  </a:lnTo>
                  <a:lnTo>
                    <a:pt x="1463040" y="789813"/>
                  </a:lnTo>
                  <a:lnTo>
                    <a:pt x="0" y="78981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9263" r="-19263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9525"/>
              <a:ext cx="1463040" cy="7993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2/7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139276" y="1602612"/>
            <a:ext cx="7014291" cy="4406716"/>
            <a:chOff x="0" y="0"/>
            <a:chExt cx="9352388" cy="5875622"/>
          </a:xfrm>
        </p:grpSpPr>
        <p:sp>
          <p:nvSpPr>
            <p:cNvPr id="20" name="Freeform 20"/>
            <p:cNvSpPr/>
            <p:nvPr/>
          </p:nvSpPr>
          <p:spPr>
            <a:xfrm>
              <a:off x="0" y="219350"/>
              <a:ext cx="297206" cy="297082"/>
            </a:xfrm>
            <a:custGeom>
              <a:avLst/>
              <a:gdLst/>
              <a:ahLst/>
              <a:cxnLst/>
              <a:rect l="l" t="t" r="r" b="b"/>
              <a:pathLst>
                <a:path w="297206" h="297082">
                  <a:moveTo>
                    <a:pt x="0" y="0"/>
                  </a:moveTo>
                  <a:lnTo>
                    <a:pt x="297206" y="0"/>
                  </a:lnTo>
                  <a:lnTo>
                    <a:pt x="297206" y="297082"/>
                  </a:lnTo>
                  <a:lnTo>
                    <a:pt x="0" y="2970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21" name="Group 21"/>
            <p:cNvGrpSpPr/>
            <p:nvPr/>
          </p:nvGrpSpPr>
          <p:grpSpPr>
            <a:xfrm>
              <a:off x="507168" y="9338"/>
              <a:ext cx="8845220" cy="669368"/>
              <a:chOff x="0" y="0"/>
              <a:chExt cx="9022080" cy="682752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9022080" cy="682752"/>
              </a:xfrm>
              <a:custGeom>
                <a:avLst/>
                <a:gdLst/>
                <a:ahLst/>
                <a:cxnLst/>
                <a:rect l="l" t="t" r="r" b="b"/>
                <a:pathLst>
                  <a:path w="9022080" h="682752">
                    <a:moveTo>
                      <a:pt x="0" y="0"/>
                    </a:moveTo>
                    <a:lnTo>
                      <a:pt x="9022080" y="0"/>
                    </a:lnTo>
                    <a:lnTo>
                      <a:pt x="9022080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207300" b="-207302"/>
                </a:stretch>
              </a:blipFill>
            </p:spPr>
          </p:sp>
        </p:grpSp>
        <p:grpSp>
          <p:nvGrpSpPr>
            <p:cNvPr id="23" name="Group 23"/>
            <p:cNvGrpSpPr/>
            <p:nvPr/>
          </p:nvGrpSpPr>
          <p:grpSpPr>
            <a:xfrm>
              <a:off x="507168" y="0"/>
              <a:ext cx="8845220" cy="678706"/>
              <a:chOff x="0" y="0"/>
              <a:chExt cx="9022080" cy="692277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9022080" cy="692277"/>
              </a:xfrm>
              <a:custGeom>
                <a:avLst/>
                <a:gdLst/>
                <a:ahLst/>
                <a:cxnLst/>
                <a:rect l="l" t="t" r="r" b="b"/>
                <a:pathLst>
                  <a:path w="9022080" h="692277">
                    <a:moveTo>
                      <a:pt x="0" y="0"/>
                    </a:moveTo>
                    <a:lnTo>
                      <a:pt x="9022080" y="0"/>
                    </a:lnTo>
                    <a:lnTo>
                      <a:pt x="9022080" y="692277"/>
                    </a:lnTo>
                    <a:lnTo>
                      <a:pt x="0" y="692277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t="-203938" b="-203938"/>
                </a:stretch>
              </a:blipFill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0" y="-9525"/>
                <a:ext cx="9022080" cy="701802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2998"/>
                  </a:lnSpc>
                </a:pPr>
                <a:r>
                  <a:rPr lang="en-US" sz="2498" b="1">
                    <a:solidFill>
                      <a:srgbClr val="111C3A"/>
                    </a:solidFill>
                    <a:latin typeface="Arimo Bold"/>
                    <a:ea typeface="Arimo Bold"/>
                    <a:cs typeface="Arimo Bold"/>
                    <a:sym typeface="Arimo Bold"/>
                  </a:rPr>
                  <a:t>Compromiso vs Resultado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507168" y="722521"/>
              <a:ext cx="6783452" cy="5153100"/>
              <a:chOff x="0" y="0"/>
              <a:chExt cx="6919087" cy="5256136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6919087" cy="5256149"/>
              </a:xfrm>
              <a:custGeom>
                <a:avLst/>
                <a:gdLst/>
                <a:ahLst/>
                <a:cxnLst/>
                <a:rect l="l" t="t" r="r" b="b"/>
                <a:pathLst>
                  <a:path w="6919087" h="5256149">
                    <a:moveTo>
                      <a:pt x="0" y="0"/>
                    </a:moveTo>
                    <a:lnTo>
                      <a:pt x="6919087" y="0"/>
                    </a:lnTo>
                    <a:lnTo>
                      <a:pt x="6919087" y="5256149"/>
                    </a:lnTo>
                    <a:lnTo>
                      <a:pt x="0" y="5256149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9"/>
                <a:stretch>
                  <a:fillRect/>
                </a:stretch>
              </a:blipFill>
            </p:spPr>
          </p:sp>
        </p:grpSp>
      </p:grpSp>
      <p:grpSp>
        <p:nvGrpSpPr>
          <p:cNvPr id="28" name="Group 28"/>
          <p:cNvGrpSpPr/>
          <p:nvPr/>
        </p:nvGrpSpPr>
        <p:grpSpPr>
          <a:xfrm>
            <a:off x="8922926" y="1602612"/>
            <a:ext cx="8238505" cy="4406716"/>
            <a:chOff x="0" y="0"/>
            <a:chExt cx="10984673" cy="5875622"/>
          </a:xfrm>
        </p:grpSpPr>
        <p:sp>
          <p:nvSpPr>
            <p:cNvPr id="29" name="Freeform 29"/>
            <p:cNvSpPr/>
            <p:nvPr/>
          </p:nvSpPr>
          <p:spPr>
            <a:xfrm>
              <a:off x="253062" y="233120"/>
              <a:ext cx="315864" cy="315732"/>
            </a:xfrm>
            <a:custGeom>
              <a:avLst/>
              <a:gdLst/>
              <a:ahLst/>
              <a:cxnLst/>
              <a:rect l="l" t="t" r="r" b="b"/>
              <a:pathLst>
                <a:path w="315864" h="315732">
                  <a:moveTo>
                    <a:pt x="0" y="0"/>
                  </a:moveTo>
                  <a:lnTo>
                    <a:pt x="315865" y="0"/>
                  </a:lnTo>
                  <a:lnTo>
                    <a:pt x="315865" y="315733"/>
                  </a:lnTo>
                  <a:lnTo>
                    <a:pt x="0" y="3157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30" name="Group 30"/>
            <p:cNvGrpSpPr/>
            <p:nvPr/>
          </p:nvGrpSpPr>
          <p:grpSpPr>
            <a:xfrm>
              <a:off x="792070" y="9925"/>
              <a:ext cx="9908643" cy="711390"/>
              <a:chOff x="0" y="0"/>
              <a:chExt cx="9509760" cy="682752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9509760" cy="682752"/>
              </a:xfrm>
              <a:custGeom>
                <a:avLst/>
                <a:gdLst/>
                <a:ahLst/>
                <a:cxnLst/>
                <a:rect l="l" t="t" r="r" b="b"/>
                <a:pathLst>
                  <a:path w="9509760" h="682752">
                    <a:moveTo>
                      <a:pt x="0" y="0"/>
                    </a:moveTo>
                    <a:lnTo>
                      <a:pt x="9509760" y="0"/>
                    </a:lnTo>
                    <a:lnTo>
                      <a:pt x="9509760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221210" b="-221209"/>
                </a:stretch>
              </a:blipFill>
            </p:spPr>
          </p:sp>
        </p:grpSp>
        <p:grpSp>
          <p:nvGrpSpPr>
            <p:cNvPr id="32" name="Group 32"/>
            <p:cNvGrpSpPr/>
            <p:nvPr/>
          </p:nvGrpSpPr>
          <p:grpSpPr>
            <a:xfrm>
              <a:off x="792070" y="0"/>
              <a:ext cx="9908643" cy="721314"/>
              <a:chOff x="0" y="0"/>
              <a:chExt cx="9509760" cy="692277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9509760" cy="692277"/>
              </a:xfrm>
              <a:custGeom>
                <a:avLst/>
                <a:gdLst/>
                <a:ahLst/>
                <a:cxnLst/>
                <a:rect l="l" t="t" r="r" b="b"/>
                <a:pathLst>
                  <a:path w="9509760" h="692277">
                    <a:moveTo>
                      <a:pt x="0" y="0"/>
                    </a:moveTo>
                    <a:lnTo>
                      <a:pt x="9509760" y="0"/>
                    </a:lnTo>
                    <a:lnTo>
                      <a:pt x="9509760" y="692277"/>
                    </a:lnTo>
                    <a:lnTo>
                      <a:pt x="0" y="692277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t="-217664" b="-217664"/>
                </a:stretch>
              </a:blipFill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0" y="-9525"/>
                <a:ext cx="9509760" cy="701802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2999"/>
                  </a:lnSpc>
                </a:pPr>
                <a:r>
                  <a:rPr lang="en-US" sz="2499" b="1">
                    <a:solidFill>
                      <a:srgbClr val="111C3A"/>
                    </a:solidFill>
                    <a:latin typeface="Arimo Bold"/>
                    <a:ea typeface="Arimo Bold"/>
                    <a:cs typeface="Arimo Bold"/>
                    <a:sym typeface="Arimo Bold"/>
                  </a:rPr>
                  <a:t>Bajas por Asesor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0" y="806798"/>
              <a:ext cx="10984673" cy="5068824"/>
              <a:chOff x="0" y="0"/>
              <a:chExt cx="10542473" cy="4864773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10542524" cy="4864735"/>
              </a:xfrm>
              <a:custGeom>
                <a:avLst/>
                <a:gdLst/>
                <a:ahLst/>
                <a:cxnLst/>
                <a:rect l="l" t="t" r="r" b="b"/>
                <a:pathLst>
                  <a:path w="10542524" h="4864735">
                    <a:moveTo>
                      <a:pt x="0" y="0"/>
                    </a:moveTo>
                    <a:lnTo>
                      <a:pt x="10542524" y="0"/>
                    </a:lnTo>
                    <a:lnTo>
                      <a:pt x="10542524" y="4864735"/>
                    </a:lnTo>
                    <a:lnTo>
                      <a:pt x="0" y="4864735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0"/>
                <a:stretch>
                  <a:fillRect/>
                </a:stretch>
              </a:blipFill>
            </p:spPr>
          </p:sp>
        </p:grpSp>
      </p:grpSp>
      <p:sp>
        <p:nvSpPr>
          <p:cNvPr id="37" name="Freeform 37"/>
          <p:cNvSpPr/>
          <p:nvPr/>
        </p:nvSpPr>
        <p:spPr>
          <a:xfrm>
            <a:off x="4951209" y="6097441"/>
            <a:ext cx="8398289" cy="3989151"/>
          </a:xfrm>
          <a:custGeom>
            <a:avLst/>
            <a:gdLst/>
            <a:ahLst/>
            <a:cxnLst/>
            <a:rect l="l" t="t" r="r" b="b"/>
            <a:pathLst>
              <a:path w="8398289" h="3989151">
                <a:moveTo>
                  <a:pt x="0" y="0"/>
                </a:moveTo>
                <a:lnTo>
                  <a:pt x="8398289" y="0"/>
                </a:lnTo>
                <a:lnTo>
                  <a:pt x="8398289" y="3989151"/>
                </a:lnTo>
                <a:lnTo>
                  <a:pt x="0" y="398915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t="-17623" b="-11226"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914400" y="585216"/>
            <a:ext cx="16459200" cy="548640"/>
            <a:chOff x="0" y="0"/>
            <a:chExt cx="21945600" cy="73152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945600" cy="731520"/>
            </a:xfrm>
            <a:custGeom>
              <a:avLst/>
              <a:gdLst/>
              <a:ahLst/>
              <a:cxnLst/>
              <a:rect l="l" t="t" r="r" b="b"/>
              <a:pathLst>
                <a:path w="21945600" h="73152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34144" b="-534145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914400" y="570928"/>
            <a:ext cx="16459200" cy="562928"/>
            <a:chOff x="0" y="0"/>
            <a:chExt cx="21945600" cy="75057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945600" cy="750570"/>
            </a:xfrm>
            <a:custGeom>
              <a:avLst/>
              <a:gdLst/>
              <a:ahLst/>
              <a:cxnLst/>
              <a:rect l="l" t="t" r="r" b="b"/>
              <a:pathLst>
                <a:path w="21945600" h="750570">
                  <a:moveTo>
                    <a:pt x="0" y="0"/>
                  </a:moveTo>
                  <a:lnTo>
                    <a:pt x="21945600" y="0"/>
                  </a:lnTo>
                  <a:lnTo>
                    <a:pt x="21945600" y="750570"/>
                  </a:lnTo>
                  <a:lnTo>
                    <a:pt x="0" y="7505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19714" b="-519714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2194560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 spc="399">
                  <a:solidFill>
                    <a:srgbClr val="E3000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INDICADOR 3 DE 6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14400" y="911838"/>
            <a:ext cx="16459200" cy="1139085"/>
            <a:chOff x="0" y="0"/>
            <a:chExt cx="21945600" cy="151878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945600" cy="1518793"/>
            </a:xfrm>
            <a:custGeom>
              <a:avLst/>
              <a:gdLst/>
              <a:ahLst/>
              <a:cxnLst/>
              <a:rect l="l" t="t" r="r" b="b"/>
              <a:pathLst>
                <a:path w="21945600" h="1518793">
                  <a:moveTo>
                    <a:pt x="0" y="0"/>
                  </a:moveTo>
                  <a:lnTo>
                    <a:pt x="21945600" y="0"/>
                  </a:lnTo>
                  <a:lnTo>
                    <a:pt x="21945600" y="1518793"/>
                  </a:lnTo>
                  <a:lnTo>
                    <a:pt x="0" y="151879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1351" b="-231350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914400" y="883263"/>
            <a:ext cx="16459200" cy="1167660"/>
            <a:chOff x="0" y="0"/>
            <a:chExt cx="21945600" cy="155688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1945600" cy="1556875"/>
            </a:xfrm>
            <a:custGeom>
              <a:avLst/>
              <a:gdLst/>
              <a:ahLst/>
              <a:cxnLst/>
              <a:rect l="l" t="t" r="r" b="b"/>
              <a:pathLst>
                <a:path w="21945600" h="1556875">
                  <a:moveTo>
                    <a:pt x="0" y="0"/>
                  </a:moveTo>
                  <a:lnTo>
                    <a:pt x="21945600" y="0"/>
                  </a:lnTo>
                  <a:lnTo>
                    <a:pt x="21945600" y="1556875"/>
                  </a:lnTo>
                  <a:lnTo>
                    <a:pt x="0" y="155687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24659" b="-224659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1945600" cy="15949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718"/>
                </a:lnSpc>
              </a:pPr>
              <a:r>
                <a:rPr lang="en-US" sz="5599" b="1">
                  <a:solidFill>
                    <a:srgbClr val="111C3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Aprovechamiento de Estructura</a:t>
              </a:r>
            </a:p>
          </p:txBody>
        </p:sp>
      </p:grpSp>
      <p:sp>
        <p:nvSpPr>
          <p:cNvPr id="13" name="Freeform 13"/>
          <p:cNvSpPr/>
          <p:nvPr/>
        </p:nvSpPr>
        <p:spPr>
          <a:xfrm>
            <a:off x="16711298" y="672722"/>
            <a:ext cx="1141762" cy="629698"/>
          </a:xfrm>
          <a:custGeom>
            <a:avLst/>
            <a:gdLst/>
            <a:ahLst/>
            <a:cxnLst/>
            <a:rect l="l" t="t" r="r" b="b"/>
            <a:pathLst>
              <a:path w="1141762" h="629698">
                <a:moveTo>
                  <a:pt x="0" y="0"/>
                </a:moveTo>
                <a:lnTo>
                  <a:pt x="1141762" y="0"/>
                </a:lnTo>
                <a:lnTo>
                  <a:pt x="1141762" y="629698"/>
                </a:lnTo>
                <a:lnTo>
                  <a:pt x="0" y="6296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14" name="Group 14"/>
          <p:cNvGrpSpPr/>
          <p:nvPr/>
        </p:nvGrpSpPr>
        <p:grpSpPr>
          <a:xfrm>
            <a:off x="16733520" y="694944"/>
            <a:ext cx="1097280" cy="585216"/>
            <a:chOff x="0" y="0"/>
            <a:chExt cx="1463040" cy="78028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463040" cy="780288"/>
            </a:xfrm>
            <a:custGeom>
              <a:avLst/>
              <a:gdLst/>
              <a:ahLst/>
              <a:cxnLst/>
              <a:rect l="l" t="t" r="r" b="b"/>
              <a:pathLst>
                <a:path w="1463040" h="780288">
                  <a:moveTo>
                    <a:pt x="0" y="0"/>
                  </a:moveTo>
                  <a:lnTo>
                    <a:pt x="1463040" y="0"/>
                  </a:lnTo>
                  <a:lnTo>
                    <a:pt x="14630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476" r="-18475"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>
            <a:off x="16733520" y="687800"/>
            <a:ext cx="1097280" cy="592360"/>
            <a:chOff x="0" y="0"/>
            <a:chExt cx="1463040" cy="78981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463040" cy="789813"/>
            </a:xfrm>
            <a:custGeom>
              <a:avLst/>
              <a:gdLst/>
              <a:ahLst/>
              <a:cxnLst/>
              <a:rect l="l" t="t" r="r" b="b"/>
              <a:pathLst>
                <a:path w="1463040" h="789813">
                  <a:moveTo>
                    <a:pt x="0" y="0"/>
                  </a:moveTo>
                  <a:lnTo>
                    <a:pt x="1463040" y="0"/>
                  </a:lnTo>
                  <a:lnTo>
                    <a:pt x="1463040" y="789813"/>
                  </a:lnTo>
                  <a:lnTo>
                    <a:pt x="0" y="78981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9263" r="-19263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9525"/>
              <a:ext cx="1463040" cy="7993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3/7</a:t>
              </a:r>
            </a:p>
          </p:txBody>
        </p:sp>
      </p:grpSp>
      <p:sp>
        <p:nvSpPr>
          <p:cNvPr id="19" name="Freeform 19"/>
          <p:cNvSpPr/>
          <p:nvPr/>
        </p:nvSpPr>
        <p:spPr>
          <a:xfrm>
            <a:off x="732565" y="2152649"/>
            <a:ext cx="16822870" cy="1677659"/>
          </a:xfrm>
          <a:custGeom>
            <a:avLst/>
            <a:gdLst/>
            <a:ahLst/>
            <a:cxnLst/>
            <a:rect l="l" t="t" r="r" b="b"/>
            <a:pathLst>
              <a:path w="16822870" h="1677659">
                <a:moveTo>
                  <a:pt x="0" y="0"/>
                </a:moveTo>
                <a:lnTo>
                  <a:pt x="16822870" y="0"/>
                </a:lnTo>
                <a:lnTo>
                  <a:pt x="16822870" y="1677659"/>
                </a:lnTo>
                <a:lnTo>
                  <a:pt x="0" y="167765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875837" y="3932034"/>
            <a:ext cx="16536326" cy="5923801"/>
          </a:xfrm>
          <a:custGeom>
            <a:avLst/>
            <a:gdLst/>
            <a:ahLst/>
            <a:cxnLst/>
            <a:rect l="l" t="t" r="r" b="b"/>
            <a:pathLst>
              <a:path w="16536326" h="5923801">
                <a:moveTo>
                  <a:pt x="0" y="0"/>
                </a:moveTo>
                <a:lnTo>
                  <a:pt x="16536326" y="0"/>
                </a:lnTo>
                <a:lnTo>
                  <a:pt x="16536326" y="5923801"/>
                </a:lnTo>
                <a:lnTo>
                  <a:pt x="0" y="592380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914400" y="310672"/>
            <a:ext cx="16459200" cy="548640"/>
            <a:chOff x="0" y="0"/>
            <a:chExt cx="21945600" cy="73152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945600" cy="731520"/>
            </a:xfrm>
            <a:custGeom>
              <a:avLst/>
              <a:gdLst/>
              <a:ahLst/>
              <a:cxnLst/>
              <a:rect l="l" t="t" r="r" b="b"/>
              <a:pathLst>
                <a:path w="21945600" h="73152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34144" b="-534145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914400" y="296385"/>
            <a:ext cx="16459200" cy="562928"/>
            <a:chOff x="0" y="0"/>
            <a:chExt cx="21945600" cy="75057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945600" cy="750570"/>
            </a:xfrm>
            <a:custGeom>
              <a:avLst/>
              <a:gdLst/>
              <a:ahLst/>
              <a:cxnLst/>
              <a:rect l="l" t="t" r="r" b="b"/>
              <a:pathLst>
                <a:path w="21945600" h="750570">
                  <a:moveTo>
                    <a:pt x="0" y="0"/>
                  </a:moveTo>
                  <a:lnTo>
                    <a:pt x="21945600" y="0"/>
                  </a:lnTo>
                  <a:lnTo>
                    <a:pt x="21945600" y="750570"/>
                  </a:lnTo>
                  <a:lnTo>
                    <a:pt x="0" y="7505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19714" b="-519714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2194560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 spc="399">
                  <a:solidFill>
                    <a:srgbClr val="E3000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INDICADOR 4 DE 6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14400" y="621930"/>
            <a:ext cx="16459200" cy="1139085"/>
            <a:chOff x="0" y="0"/>
            <a:chExt cx="21945600" cy="151878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945600" cy="1518793"/>
            </a:xfrm>
            <a:custGeom>
              <a:avLst/>
              <a:gdLst/>
              <a:ahLst/>
              <a:cxnLst/>
              <a:rect l="l" t="t" r="r" b="b"/>
              <a:pathLst>
                <a:path w="21945600" h="1518793">
                  <a:moveTo>
                    <a:pt x="0" y="0"/>
                  </a:moveTo>
                  <a:lnTo>
                    <a:pt x="21945600" y="0"/>
                  </a:lnTo>
                  <a:lnTo>
                    <a:pt x="21945600" y="1518793"/>
                  </a:lnTo>
                  <a:lnTo>
                    <a:pt x="0" y="151879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1351" b="-231350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914400" y="593355"/>
            <a:ext cx="16459200" cy="1167660"/>
            <a:chOff x="0" y="0"/>
            <a:chExt cx="21945600" cy="155688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1945600" cy="1556875"/>
            </a:xfrm>
            <a:custGeom>
              <a:avLst/>
              <a:gdLst/>
              <a:ahLst/>
              <a:cxnLst/>
              <a:rect l="l" t="t" r="r" b="b"/>
              <a:pathLst>
                <a:path w="21945600" h="1556875">
                  <a:moveTo>
                    <a:pt x="0" y="0"/>
                  </a:moveTo>
                  <a:lnTo>
                    <a:pt x="21945600" y="0"/>
                  </a:lnTo>
                  <a:lnTo>
                    <a:pt x="21945600" y="1556875"/>
                  </a:lnTo>
                  <a:lnTo>
                    <a:pt x="0" y="155687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297434" b="-297434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1945600" cy="15949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718"/>
                </a:lnSpc>
              </a:pPr>
              <a:r>
                <a:rPr lang="en-US" sz="5599" b="1">
                  <a:solidFill>
                    <a:srgbClr val="111C3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Ausentismos — Plaza Oaxaca</a:t>
              </a:r>
            </a:p>
          </p:txBody>
        </p:sp>
      </p:grpSp>
      <p:sp>
        <p:nvSpPr>
          <p:cNvPr id="13" name="Freeform 13"/>
          <p:cNvSpPr/>
          <p:nvPr/>
        </p:nvSpPr>
        <p:spPr>
          <a:xfrm>
            <a:off x="16711298" y="672722"/>
            <a:ext cx="1141762" cy="629698"/>
          </a:xfrm>
          <a:custGeom>
            <a:avLst/>
            <a:gdLst/>
            <a:ahLst/>
            <a:cxnLst/>
            <a:rect l="l" t="t" r="r" b="b"/>
            <a:pathLst>
              <a:path w="1141762" h="629698">
                <a:moveTo>
                  <a:pt x="0" y="0"/>
                </a:moveTo>
                <a:lnTo>
                  <a:pt x="1141762" y="0"/>
                </a:lnTo>
                <a:lnTo>
                  <a:pt x="1141762" y="629698"/>
                </a:lnTo>
                <a:lnTo>
                  <a:pt x="0" y="62969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14" name="Group 14"/>
          <p:cNvGrpSpPr/>
          <p:nvPr/>
        </p:nvGrpSpPr>
        <p:grpSpPr>
          <a:xfrm>
            <a:off x="16733520" y="694944"/>
            <a:ext cx="1097280" cy="585216"/>
            <a:chOff x="0" y="0"/>
            <a:chExt cx="1463040" cy="78028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463040" cy="780288"/>
            </a:xfrm>
            <a:custGeom>
              <a:avLst/>
              <a:gdLst/>
              <a:ahLst/>
              <a:cxnLst/>
              <a:rect l="l" t="t" r="r" b="b"/>
              <a:pathLst>
                <a:path w="1463040" h="780288">
                  <a:moveTo>
                    <a:pt x="0" y="0"/>
                  </a:moveTo>
                  <a:lnTo>
                    <a:pt x="1463040" y="0"/>
                  </a:lnTo>
                  <a:lnTo>
                    <a:pt x="14630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476" r="-18475"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>
            <a:off x="16733520" y="687800"/>
            <a:ext cx="1097280" cy="592360"/>
            <a:chOff x="0" y="0"/>
            <a:chExt cx="1463040" cy="78981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463040" cy="789813"/>
            </a:xfrm>
            <a:custGeom>
              <a:avLst/>
              <a:gdLst/>
              <a:ahLst/>
              <a:cxnLst/>
              <a:rect l="l" t="t" r="r" b="b"/>
              <a:pathLst>
                <a:path w="1463040" h="789813">
                  <a:moveTo>
                    <a:pt x="0" y="0"/>
                  </a:moveTo>
                  <a:lnTo>
                    <a:pt x="1463040" y="0"/>
                  </a:lnTo>
                  <a:lnTo>
                    <a:pt x="1463040" y="789813"/>
                  </a:lnTo>
                  <a:lnTo>
                    <a:pt x="0" y="78981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9263" r="-19263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9525"/>
              <a:ext cx="1463040" cy="7993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4/7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469393" y="2148421"/>
            <a:ext cx="15727680" cy="512064"/>
            <a:chOff x="0" y="0"/>
            <a:chExt cx="20970240" cy="68275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0970239" cy="682752"/>
            </a:xfrm>
            <a:custGeom>
              <a:avLst/>
              <a:gdLst/>
              <a:ahLst/>
              <a:cxnLst/>
              <a:rect l="l" t="t" r="r" b="b"/>
              <a:pathLst>
                <a:path w="20970239" h="682752">
                  <a:moveTo>
                    <a:pt x="0" y="0"/>
                  </a:moveTo>
                  <a:lnTo>
                    <a:pt x="20970239" y="0"/>
                  </a:lnTo>
                  <a:lnTo>
                    <a:pt x="20970239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48469" b="-548469"/>
              </a:stretch>
            </a:blipFill>
          </p:spPr>
        </p:sp>
      </p:grpSp>
      <p:sp>
        <p:nvSpPr>
          <p:cNvPr id="21" name="Freeform 21"/>
          <p:cNvSpPr/>
          <p:nvPr/>
        </p:nvSpPr>
        <p:spPr>
          <a:xfrm>
            <a:off x="1861496" y="6722933"/>
            <a:ext cx="14565007" cy="3064631"/>
          </a:xfrm>
          <a:custGeom>
            <a:avLst/>
            <a:gdLst/>
            <a:ahLst/>
            <a:cxnLst/>
            <a:rect l="l" t="t" r="r" b="b"/>
            <a:pathLst>
              <a:path w="14565007" h="3064631">
                <a:moveTo>
                  <a:pt x="0" y="0"/>
                </a:moveTo>
                <a:lnTo>
                  <a:pt x="14565008" y="0"/>
                </a:lnTo>
                <a:lnTo>
                  <a:pt x="14565008" y="3064632"/>
                </a:lnTo>
                <a:lnTo>
                  <a:pt x="0" y="306463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3677893" y="1968493"/>
            <a:ext cx="11310680" cy="4141146"/>
          </a:xfrm>
          <a:custGeom>
            <a:avLst/>
            <a:gdLst/>
            <a:ahLst/>
            <a:cxnLst/>
            <a:rect l="l" t="t" r="r" b="b"/>
            <a:pathLst>
              <a:path w="11310680" h="4141146">
                <a:moveTo>
                  <a:pt x="0" y="0"/>
                </a:moveTo>
                <a:lnTo>
                  <a:pt x="11310680" y="0"/>
                </a:lnTo>
                <a:lnTo>
                  <a:pt x="11310680" y="4141146"/>
                </a:lnTo>
                <a:lnTo>
                  <a:pt x="0" y="414114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800100" y="258270"/>
            <a:ext cx="16459200" cy="548640"/>
            <a:chOff x="0" y="0"/>
            <a:chExt cx="21945600" cy="73152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945600" cy="731520"/>
            </a:xfrm>
            <a:custGeom>
              <a:avLst/>
              <a:gdLst/>
              <a:ahLst/>
              <a:cxnLst/>
              <a:rect l="l" t="t" r="r" b="b"/>
              <a:pathLst>
                <a:path w="21945600" h="73152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34144" b="-534145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800100" y="243983"/>
            <a:ext cx="16459200" cy="562928"/>
            <a:chOff x="0" y="0"/>
            <a:chExt cx="21945600" cy="75057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945600" cy="750570"/>
            </a:xfrm>
            <a:custGeom>
              <a:avLst/>
              <a:gdLst/>
              <a:ahLst/>
              <a:cxnLst/>
              <a:rect l="l" t="t" r="r" b="b"/>
              <a:pathLst>
                <a:path w="21945600" h="750570">
                  <a:moveTo>
                    <a:pt x="0" y="0"/>
                  </a:moveTo>
                  <a:lnTo>
                    <a:pt x="21945600" y="0"/>
                  </a:lnTo>
                  <a:lnTo>
                    <a:pt x="21945600" y="750570"/>
                  </a:lnTo>
                  <a:lnTo>
                    <a:pt x="0" y="7505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19714" b="-519714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2194560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 spc="399">
                  <a:solidFill>
                    <a:srgbClr val="E3000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INDICADOR 5 DE 6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00100" y="584892"/>
            <a:ext cx="16459200" cy="1139085"/>
            <a:chOff x="0" y="0"/>
            <a:chExt cx="21945600" cy="151878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945600" cy="1518793"/>
            </a:xfrm>
            <a:custGeom>
              <a:avLst/>
              <a:gdLst/>
              <a:ahLst/>
              <a:cxnLst/>
              <a:rect l="l" t="t" r="r" b="b"/>
              <a:pathLst>
                <a:path w="21945600" h="1518793">
                  <a:moveTo>
                    <a:pt x="0" y="0"/>
                  </a:moveTo>
                  <a:lnTo>
                    <a:pt x="21945600" y="0"/>
                  </a:lnTo>
                  <a:lnTo>
                    <a:pt x="21945600" y="1518793"/>
                  </a:lnTo>
                  <a:lnTo>
                    <a:pt x="0" y="151879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1351" b="-231350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800100" y="556317"/>
            <a:ext cx="16459200" cy="1167660"/>
            <a:chOff x="0" y="0"/>
            <a:chExt cx="21945600" cy="155688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1945600" cy="1556875"/>
            </a:xfrm>
            <a:custGeom>
              <a:avLst/>
              <a:gdLst/>
              <a:ahLst/>
              <a:cxnLst/>
              <a:rect l="l" t="t" r="r" b="b"/>
              <a:pathLst>
                <a:path w="21945600" h="1556875">
                  <a:moveTo>
                    <a:pt x="0" y="0"/>
                  </a:moveTo>
                  <a:lnTo>
                    <a:pt x="21945600" y="0"/>
                  </a:lnTo>
                  <a:lnTo>
                    <a:pt x="21945600" y="1556875"/>
                  </a:lnTo>
                  <a:lnTo>
                    <a:pt x="0" y="155687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24659" b="-224659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1945600" cy="15949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718"/>
                </a:lnSpc>
              </a:pPr>
              <a:r>
                <a:rPr lang="en-US" sz="5599" b="1">
                  <a:solidFill>
                    <a:srgbClr val="111C3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Tiempo Extra — Plaza Oaxaca</a:t>
              </a:r>
            </a:p>
          </p:txBody>
        </p:sp>
      </p:grpSp>
      <p:sp>
        <p:nvSpPr>
          <p:cNvPr id="13" name="Freeform 13"/>
          <p:cNvSpPr/>
          <p:nvPr/>
        </p:nvSpPr>
        <p:spPr>
          <a:xfrm>
            <a:off x="16711298" y="672722"/>
            <a:ext cx="1141762" cy="629698"/>
          </a:xfrm>
          <a:custGeom>
            <a:avLst/>
            <a:gdLst/>
            <a:ahLst/>
            <a:cxnLst/>
            <a:rect l="l" t="t" r="r" b="b"/>
            <a:pathLst>
              <a:path w="1141762" h="629698">
                <a:moveTo>
                  <a:pt x="0" y="0"/>
                </a:moveTo>
                <a:lnTo>
                  <a:pt x="1141762" y="0"/>
                </a:lnTo>
                <a:lnTo>
                  <a:pt x="1141762" y="629698"/>
                </a:lnTo>
                <a:lnTo>
                  <a:pt x="0" y="6296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14" name="Group 14"/>
          <p:cNvGrpSpPr/>
          <p:nvPr/>
        </p:nvGrpSpPr>
        <p:grpSpPr>
          <a:xfrm>
            <a:off x="16733520" y="694944"/>
            <a:ext cx="1097280" cy="585216"/>
            <a:chOff x="0" y="0"/>
            <a:chExt cx="1463040" cy="78028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463040" cy="780288"/>
            </a:xfrm>
            <a:custGeom>
              <a:avLst/>
              <a:gdLst/>
              <a:ahLst/>
              <a:cxnLst/>
              <a:rect l="l" t="t" r="r" b="b"/>
              <a:pathLst>
                <a:path w="1463040" h="780288">
                  <a:moveTo>
                    <a:pt x="0" y="0"/>
                  </a:moveTo>
                  <a:lnTo>
                    <a:pt x="1463040" y="0"/>
                  </a:lnTo>
                  <a:lnTo>
                    <a:pt x="14630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476" r="-18475"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>
            <a:off x="16733520" y="687800"/>
            <a:ext cx="1097280" cy="592360"/>
            <a:chOff x="0" y="0"/>
            <a:chExt cx="1463040" cy="78981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463040" cy="789813"/>
            </a:xfrm>
            <a:custGeom>
              <a:avLst/>
              <a:gdLst/>
              <a:ahLst/>
              <a:cxnLst/>
              <a:rect l="l" t="t" r="r" b="b"/>
              <a:pathLst>
                <a:path w="1463040" h="789813">
                  <a:moveTo>
                    <a:pt x="0" y="0"/>
                  </a:moveTo>
                  <a:lnTo>
                    <a:pt x="1463040" y="0"/>
                  </a:lnTo>
                  <a:lnTo>
                    <a:pt x="1463040" y="789813"/>
                  </a:lnTo>
                  <a:lnTo>
                    <a:pt x="0" y="78981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9263" r="-19263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9525"/>
              <a:ext cx="1463040" cy="7993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5/7</a:t>
              </a:r>
            </a:p>
          </p:txBody>
        </p:sp>
      </p:grpSp>
      <p:sp>
        <p:nvSpPr>
          <p:cNvPr id="19" name="Freeform 19"/>
          <p:cNvSpPr/>
          <p:nvPr/>
        </p:nvSpPr>
        <p:spPr>
          <a:xfrm>
            <a:off x="1342663" y="2074312"/>
            <a:ext cx="8275754" cy="4773050"/>
          </a:xfrm>
          <a:custGeom>
            <a:avLst/>
            <a:gdLst/>
            <a:ahLst/>
            <a:cxnLst/>
            <a:rect l="l" t="t" r="r" b="b"/>
            <a:pathLst>
              <a:path w="8275754" h="4773050">
                <a:moveTo>
                  <a:pt x="0" y="0"/>
                </a:moveTo>
                <a:lnTo>
                  <a:pt x="8275754" y="0"/>
                </a:lnTo>
                <a:lnTo>
                  <a:pt x="8275754" y="4773050"/>
                </a:lnTo>
                <a:lnTo>
                  <a:pt x="0" y="47730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342663" y="7197697"/>
            <a:ext cx="15602675" cy="2911286"/>
          </a:xfrm>
          <a:custGeom>
            <a:avLst/>
            <a:gdLst/>
            <a:ahLst/>
            <a:cxnLst/>
            <a:rect l="l" t="t" r="r" b="b"/>
            <a:pathLst>
              <a:path w="15602675" h="2911286">
                <a:moveTo>
                  <a:pt x="0" y="0"/>
                </a:moveTo>
                <a:lnTo>
                  <a:pt x="15602674" y="0"/>
                </a:lnTo>
                <a:lnTo>
                  <a:pt x="15602674" y="2911286"/>
                </a:lnTo>
                <a:lnTo>
                  <a:pt x="0" y="291128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0243830" y="2074312"/>
            <a:ext cx="6244702" cy="2312853"/>
          </a:xfrm>
          <a:custGeom>
            <a:avLst/>
            <a:gdLst/>
            <a:ahLst/>
            <a:cxnLst/>
            <a:rect l="l" t="t" r="r" b="b"/>
            <a:pathLst>
              <a:path w="6244702" h="2312853">
                <a:moveTo>
                  <a:pt x="0" y="0"/>
                </a:moveTo>
                <a:lnTo>
                  <a:pt x="6244703" y="0"/>
                </a:lnTo>
                <a:lnTo>
                  <a:pt x="6244703" y="2312853"/>
                </a:lnTo>
                <a:lnTo>
                  <a:pt x="0" y="231285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10188609" y="4568766"/>
            <a:ext cx="6355146" cy="2278596"/>
          </a:xfrm>
          <a:custGeom>
            <a:avLst/>
            <a:gdLst/>
            <a:ahLst/>
            <a:cxnLst/>
            <a:rect l="l" t="t" r="r" b="b"/>
            <a:pathLst>
              <a:path w="6355146" h="2278596">
                <a:moveTo>
                  <a:pt x="0" y="0"/>
                </a:moveTo>
                <a:lnTo>
                  <a:pt x="6355146" y="0"/>
                </a:lnTo>
                <a:lnTo>
                  <a:pt x="6355146" y="2278596"/>
                </a:lnTo>
                <a:lnTo>
                  <a:pt x="0" y="227859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914400" y="585216"/>
            <a:ext cx="16459200" cy="548640"/>
            <a:chOff x="0" y="0"/>
            <a:chExt cx="21945600" cy="73152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945600" cy="731520"/>
            </a:xfrm>
            <a:custGeom>
              <a:avLst/>
              <a:gdLst/>
              <a:ahLst/>
              <a:cxnLst/>
              <a:rect l="l" t="t" r="r" b="b"/>
              <a:pathLst>
                <a:path w="21945600" h="73152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34144" b="-534145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914400" y="570928"/>
            <a:ext cx="16459200" cy="562928"/>
            <a:chOff x="0" y="0"/>
            <a:chExt cx="21945600" cy="75057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945600" cy="750570"/>
            </a:xfrm>
            <a:custGeom>
              <a:avLst/>
              <a:gdLst/>
              <a:ahLst/>
              <a:cxnLst/>
              <a:rect l="l" t="t" r="r" b="b"/>
              <a:pathLst>
                <a:path w="21945600" h="750570">
                  <a:moveTo>
                    <a:pt x="0" y="0"/>
                  </a:moveTo>
                  <a:lnTo>
                    <a:pt x="21945600" y="0"/>
                  </a:lnTo>
                  <a:lnTo>
                    <a:pt x="21945600" y="750570"/>
                  </a:lnTo>
                  <a:lnTo>
                    <a:pt x="0" y="7505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19714" b="-519714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2194560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 spc="399">
                  <a:solidFill>
                    <a:srgbClr val="E3000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INDICADOR 6 DE 6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01703" y="859536"/>
            <a:ext cx="16459200" cy="1139085"/>
            <a:chOff x="0" y="0"/>
            <a:chExt cx="21945600" cy="151878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945600" cy="1518793"/>
            </a:xfrm>
            <a:custGeom>
              <a:avLst/>
              <a:gdLst/>
              <a:ahLst/>
              <a:cxnLst/>
              <a:rect l="l" t="t" r="r" b="b"/>
              <a:pathLst>
                <a:path w="21945600" h="1518793">
                  <a:moveTo>
                    <a:pt x="0" y="0"/>
                  </a:moveTo>
                  <a:lnTo>
                    <a:pt x="21945600" y="0"/>
                  </a:lnTo>
                  <a:lnTo>
                    <a:pt x="21945600" y="1518793"/>
                  </a:lnTo>
                  <a:lnTo>
                    <a:pt x="0" y="151879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1351" b="-231350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901703" y="830961"/>
            <a:ext cx="16459200" cy="1167660"/>
            <a:chOff x="0" y="0"/>
            <a:chExt cx="21945600" cy="155688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1945600" cy="1556875"/>
            </a:xfrm>
            <a:custGeom>
              <a:avLst/>
              <a:gdLst/>
              <a:ahLst/>
              <a:cxnLst/>
              <a:rect l="l" t="t" r="r" b="b"/>
              <a:pathLst>
                <a:path w="21945600" h="1556875">
                  <a:moveTo>
                    <a:pt x="0" y="0"/>
                  </a:moveTo>
                  <a:lnTo>
                    <a:pt x="21945600" y="0"/>
                  </a:lnTo>
                  <a:lnTo>
                    <a:pt x="21945600" y="1556875"/>
                  </a:lnTo>
                  <a:lnTo>
                    <a:pt x="0" y="155687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24659" b="-224659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1945600" cy="15949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718"/>
                </a:lnSpc>
              </a:pPr>
              <a:r>
                <a:rPr lang="en-US" sz="5599" b="1">
                  <a:solidFill>
                    <a:srgbClr val="111C3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Vacaciones — Plaza Oaxaca</a:t>
              </a:r>
            </a:p>
          </p:txBody>
        </p:sp>
      </p:grpSp>
      <p:sp>
        <p:nvSpPr>
          <p:cNvPr id="13" name="Freeform 13"/>
          <p:cNvSpPr/>
          <p:nvPr/>
        </p:nvSpPr>
        <p:spPr>
          <a:xfrm>
            <a:off x="16711298" y="672722"/>
            <a:ext cx="1141762" cy="629698"/>
          </a:xfrm>
          <a:custGeom>
            <a:avLst/>
            <a:gdLst/>
            <a:ahLst/>
            <a:cxnLst/>
            <a:rect l="l" t="t" r="r" b="b"/>
            <a:pathLst>
              <a:path w="1141762" h="629698">
                <a:moveTo>
                  <a:pt x="0" y="0"/>
                </a:moveTo>
                <a:lnTo>
                  <a:pt x="1141762" y="0"/>
                </a:lnTo>
                <a:lnTo>
                  <a:pt x="1141762" y="629698"/>
                </a:lnTo>
                <a:lnTo>
                  <a:pt x="0" y="6296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14" name="Group 14"/>
          <p:cNvGrpSpPr/>
          <p:nvPr/>
        </p:nvGrpSpPr>
        <p:grpSpPr>
          <a:xfrm>
            <a:off x="16733520" y="694944"/>
            <a:ext cx="1097280" cy="585216"/>
            <a:chOff x="0" y="0"/>
            <a:chExt cx="1463040" cy="78028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463040" cy="780288"/>
            </a:xfrm>
            <a:custGeom>
              <a:avLst/>
              <a:gdLst/>
              <a:ahLst/>
              <a:cxnLst/>
              <a:rect l="l" t="t" r="r" b="b"/>
              <a:pathLst>
                <a:path w="1463040" h="780288">
                  <a:moveTo>
                    <a:pt x="0" y="0"/>
                  </a:moveTo>
                  <a:lnTo>
                    <a:pt x="1463040" y="0"/>
                  </a:lnTo>
                  <a:lnTo>
                    <a:pt x="14630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476" r="-18475"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>
            <a:off x="16733520" y="687800"/>
            <a:ext cx="1097280" cy="592360"/>
            <a:chOff x="0" y="0"/>
            <a:chExt cx="1463040" cy="78981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463040" cy="789813"/>
            </a:xfrm>
            <a:custGeom>
              <a:avLst/>
              <a:gdLst/>
              <a:ahLst/>
              <a:cxnLst/>
              <a:rect l="l" t="t" r="r" b="b"/>
              <a:pathLst>
                <a:path w="1463040" h="789813">
                  <a:moveTo>
                    <a:pt x="0" y="0"/>
                  </a:moveTo>
                  <a:lnTo>
                    <a:pt x="1463040" y="0"/>
                  </a:lnTo>
                  <a:lnTo>
                    <a:pt x="1463040" y="789813"/>
                  </a:lnTo>
                  <a:lnTo>
                    <a:pt x="0" y="78981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9263" r="-19263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9525"/>
              <a:ext cx="1463040" cy="7993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6/7</a:t>
              </a:r>
            </a:p>
          </p:txBody>
        </p:sp>
      </p:grpSp>
      <p:sp>
        <p:nvSpPr>
          <p:cNvPr id="19" name="Freeform 19"/>
          <p:cNvSpPr/>
          <p:nvPr/>
        </p:nvSpPr>
        <p:spPr>
          <a:xfrm>
            <a:off x="1977285" y="1919729"/>
            <a:ext cx="14333430" cy="5615478"/>
          </a:xfrm>
          <a:custGeom>
            <a:avLst/>
            <a:gdLst/>
            <a:ahLst/>
            <a:cxnLst/>
            <a:rect l="l" t="t" r="r" b="b"/>
            <a:pathLst>
              <a:path w="14333430" h="5615478">
                <a:moveTo>
                  <a:pt x="0" y="0"/>
                </a:moveTo>
                <a:lnTo>
                  <a:pt x="14333430" y="0"/>
                </a:lnTo>
                <a:lnTo>
                  <a:pt x="14333430" y="5615478"/>
                </a:lnTo>
                <a:lnTo>
                  <a:pt x="0" y="561547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3665117" y="7535207"/>
            <a:ext cx="10957767" cy="2593311"/>
          </a:xfrm>
          <a:custGeom>
            <a:avLst/>
            <a:gdLst/>
            <a:ahLst/>
            <a:cxnLst/>
            <a:rect l="l" t="t" r="r" b="b"/>
            <a:pathLst>
              <a:path w="10957767" h="2593311">
                <a:moveTo>
                  <a:pt x="0" y="0"/>
                </a:moveTo>
                <a:lnTo>
                  <a:pt x="10957766" y="0"/>
                </a:lnTo>
                <a:lnTo>
                  <a:pt x="10957766" y="2593310"/>
                </a:lnTo>
                <a:lnTo>
                  <a:pt x="0" y="259331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800100" y="166530"/>
            <a:ext cx="16459200" cy="512064"/>
            <a:chOff x="0" y="0"/>
            <a:chExt cx="21945600" cy="68275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945600" cy="682752"/>
            </a:xfrm>
            <a:custGeom>
              <a:avLst/>
              <a:gdLst/>
              <a:ahLst/>
              <a:cxnLst/>
              <a:rect l="l" t="t" r="r" b="b"/>
              <a:pathLst>
                <a:path w="21945600" h="682752">
                  <a:moveTo>
                    <a:pt x="0" y="0"/>
                  </a:moveTo>
                  <a:lnTo>
                    <a:pt x="21945600" y="0"/>
                  </a:lnTo>
                  <a:lnTo>
                    <a:pt x="21945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75868" b="-575870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800100" y="152243"/>
            <a:ext cx="16459200" cy="526352"/>
            <a:chOff x="0" y="0"/>
            <a:chExt cx="21945600" cy="70180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945600" cy="701802"/>
            </a:xfrm>
            <a:custGeom>
              <a:avLst/>
              <a:gdLst/>
              <a:ahLst/>
              <a:cxnLst/>
              <a:rect l="l" t="t" r="r" b="b"/>
              <a:pathLst>
                <a:path w="21945600" h="701802">
                  <a:moveTo>
                    <a:pt x="0" y="0"/>
                  </a:moveTo>
                  <a:lnTo>
                    <a:pt x="21945600" y="0"/>
                  </a:lnTo>
                  <a:lnTo>
                    <a:pt x="21945600" y="701802"/>
                  </a:lnTo>
                  <a:lnTo>
                    <a:pt x="0" y="70180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59304" b="-559304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21945600" cy="7208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 spc="600">
                  <a:solidFill>
                    <a:srgbClr val="FFD2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INDICADOR CLAVE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00100" y="678594"/>
            <a:ext cx="16459200" cy="1226563"/>
            <a:chOff x="0" y="0"/>
            <a:chExt cx="21945600" cy="163541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945600" cy="1635379"/>
            </a:xfrm>
            <a:custGeom>
              <a:avLst/>
              <a:gdLst/>
              <a:ahLst/>
              <a:cxnLst/>
              <a:rect l="l" t="t" r="r" b="b"/>
              <a:pathLst>
                <a:path w="21945600" h="1635379">
                  <a:moveTo>
                    <a:pt x="0" y="0"/>
                  </a:moveTo>
                  <a:lnTo>
                    <a:pt x="21945600" y="0"/>
                  </a:lnTo>
                  <a:lnTo>
                    <a:pt x="21945600" y="1635379"/>
                  </a:lnTo>
                  <a:lnTo>
                    <a:pt x="0" y="163537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1292" b="-211294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800100" y="657163"/>
            <a:ext cx="16459200" cy="1247994"/>
            <a:chOff x="0" y="0"/>
            <a:chExt cx="21945600" cy="166399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1945600" cy="1663998"/>
            </a:xfrm>
            <a:custGeom>
              <a:avLst/>
              <a:gdLst/>
              <a:ahLst/>
              <a:cxnLst/>
              <a:rect l="l" t="t" r="r" b="b"/>
              <a:pathLst>
                <a:path w="21945600" h="1663998">
                  <a:moveTo>
                    <a:pt x="0" y="0"/>
                  </a:moveTo>
                  <a:lnTo>
                    <a:pt x="21945600" y="0"/>
                  </a:lnTo>
                  <a:lnTo>
                    <a:pt x="21945600" y="1663998"/>
                  </a:lnTo>
                  <a:lnTo>
                    <a:pt x="0" y="166399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06978" b="-206977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28575"/>
              <a:ext cx="21945600" cy="169256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200"/>
                </a:lnSpc>
              </a:pPr>
              <a:r>
                <a:rPr lang="en-US" sz="6000" b="1" dirty="0">
                  <a:solidFill>
                    <a:srgbClr val="FF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TREO — </a:t>
              </a:r>
              <a:r>
                <a:rPr lang="en-US" sz="6000" b="1" dirty="0" err="1">
                  <a:solidFill>
                    <a:srgbClr val="FF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Alineación</a:t>
              </a:r>
              <a:r>
                <a:rPr lang="en-US" sz="6000" b="1" dirty="0">
                  <a:solidFill>
                    <a:srgbClr val="FF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 de </a:t>
              </a:r>
              <a:r>
                <a:rPr lang="en-US" sz="6000" b="1" dirty="0" err="1">
                  <a:solidFill>
                    <a:srgbClr val="FF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Estructura</a:t>
              </a:r>
              <a:endParaRPr lang="en-US" sz="6000" b="1" dirty="0">
                <a:solidFill>
                  <a:srgbClr val="FF0000"/>
                </a:solidFill>
                <a:latin typeface="Arimo Bold"/>
                <a:ea typeface="Arimo Bold"/>
                <a:cs typeface="Arimo Bold"/>
                <a:sym typeface="Arimo Bold"/>
              </a:endParaRPr>
            </a:p>
          </p:txBody>
        </p:sp>
      </p:grpSp>
      <p:sp>
        <p:nvSpPr>
          <p:cNvPr id="13" name="Freeform 13"/>
          <p:cNvSpPr/>
          <p:nvPr/>
        </p:nvSpPr>
        <p:spPr>
          <a:xfrm>
            <a:off x="16711298" y="672722"/>
            <a:ext cx="1141762" cy="629698"/>
          </a:xfrm>
          <a:custGeom>
            <a:avLst/>
            <a:gdLst/>
            <a:ahLst/>
            <a:cxnLst/>
            <a:rect l="l" t="t" r="r" b="b"/>
            <a:pathLst>
              <a:path w="1141762" h="629698">
                <a:moveTo>
                  <a:pt x="0" y="0"/>
                </a:moveTo>
                <a:lnTo>
                  <a:pt x="1141762" y="0"/>
                </a:lnTo>
                <a:lnTo>
                  <a:pt x="1141762" y="629698"/>
                </a:lnTo>
                <a:lnTo>
                  <a:pt x="0" y="6296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14" name="Group 14"/>
          <p:cNvGrpSpPr/>
          <p:nvPr/>
        </p:nvGrpSpPr>
        <p:grpSpPr>
          <a:xfrm>
            <a:off x="16733520" y="694944"/>
            <a:ext cx="1097280" cy="585216"/>
            <a:chOff x="0" y="0"/>
            <a:chExt cx="1463040" cy="78028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463040" cy="780288"/>
            </a:xfrm>
            <a:custGeom>
              <a:avLst/>
              <a:gdLst/>
              <a:ahLst/>
              <a:cxnLst/>
              <a:rect l="l" t="t" r="r" b="b"/>
              <a:pathLst>
                <a:path w="1463040" h="780288">
                  <a:moveTo>
                    <a:pt x="0" y="0"/>
                  </a:moveTo>
                  <a:lnTo>
                    <a:pt x="1463040" y="0"/>
                  </a:lnTo>
                  <a:lnTo>
                    <a:pt x="14630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476" r="-18475"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>
            <a:off x="16733520" y="687800"/>
            <a:ext cx="1097280" cy="592360"/>
            <a:chOff x="0" y="0"/>
            <a:chExt cx="1463040" cy="78981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463040" cy="789813"/>
            </a:xfrm>
            <a:custGeom>
              <a:avLst/>
              <a:gdLst/>
              <a:ahLst/>
              <a:cxnLst/>
              <a:rect l="l" t="t" r="r" b="b"/>
              <a:pathLst>
                <a:path w="1463040" h="789813">
                  <a:moveTo>
                    <a:pt x="0" y="0"/>
                  </a:moveTo>
                  <a:lnTo>
                    <a:pt x="1463040" y="0"/>
                  </a:lnTo>
                  <a:lnTo>
                    <a:pt x="1463040" y="789813"/>
                  </a:lnTo>
                  <a:lnTo>
                    <a:pt x="0" y="78981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9263" r="-19263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9525"/>
              <a:ext cx="1463040" cy="7993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 b="1">
                  <a:solidFill>
                    <a:srgbClr val="111C3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7/7</a:t>
              </a:r>
            </a:p>
          </p:txBody>
        </p:sp>
      </p:grpSp>
      <p:sp>
        <p:nvSpPr>
          <p:cNvPr id="19" name="Freeform 19"/>
          <p:cNvSpPr/>
          <p:nvPr/>
        </p:nvSpPr>
        <p:spPr>
          <a:xfrm>
            <a:off x="2180490" y="1766431"/>
            <a:ext cx="13698420" cy="2687481"/>
          </a:xfrm>
          <a:custGeom>
            <a:avLst/>
            <a:gdLst/>
            <a:ahLst/>
            <a:cxnLst/>
            <a:rect l="l" t="t" r="r" b="b"/>
            <a:pathLst>
              <a:path w="13698420" h="2687481">
                <a:moveTo>
                  <a:pt x="0" y="0"/>
                </a:moveTo>
                <a:lnTo>
                  <a:pt x="13698420" y="0"/>
                </a:lnTo>
                <a:lnTo>
                  <a:pt x="13698420" y="2687481"/>
                </a:lnTo>
                <a:lnTo>
                  <a:pt x="0" y="268748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265388" y="4711897"/>
            <a:ext cx="4861731" cy="5064749"/>
          </a:xfrm>
          <a:custGeom>
            <a:avLst/>
            <a:gdLst/>
            <a:ahLst/>
            <a:cxnLst/>
            <a:rect l="l" t="t" r="r" b="b"/>
            <a:pathLst>
              <a:path w="4861731" h="5064749">
                <a:moveTo>
                  <a:pt x="0" y="0"/>
                </a:moveTo>
                <a:lnTo>
                  <a:pt x="4861731" y="0"/>
                </a:lnTo>
                <a:lnTo>
                  <a:pt x="4861731" y="5064748"/>
                </a:lnTo>
                <a:lnTo>
                  <a:pt x="0" y="506474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6388247" y="4685812"/>
            <a:ext cx="11095094" cy="5090833"/>
          </a:xfrm>
          <a:custGeom>
            <a:avLst/>
            <a:gdLst/>
            <a:ahLst/>
            <a:cxnLst/>
            <a:rect l="l" t="t" r="r" b="b"/>
            <a:pathLst>
              <a:path w="11095094" h="5090833">
                <a:moveTo>
                  <a:pt x="0" y="0"/>
                </a:moveTo>
                <a:lnTo>
                  <a:pt x="11095094" y="0"/>
                </a:lnTo>
                <a:lnTo>
                  <a:pt x="11095094" y="5090833"/>
                </a:lnTo>
                <a:lnTo>
                  <a:pt x="0" y="509083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167</Words>
  <Application>Microsoft Office PowerPoint</Application>
  <PresentationFormat>Personalizado</PresentationFormat>
  <Paragraphs>101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Arimo Bold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Nuestra_Gente_2026_actualizado.pptx</dc:title>
  <dc:creator>Angel De Jesus Franco Gijon</dc:creator>
  <cp:lastModifiedBy>Angel De Jesus Franco Gijon</cp:lastModifiedBy>
  <cp:revision>5</cp:revision>
  <dcterms:created xsi:type="dcterms:W3CDTF">2006-08-16T00:00:00Z</dcterms:created>
  <dcterms:modified xsi:type="dcterms:W3CDTF">2026-07-29T14:16:58Z</dcterms:modified>
  <dc:identifier>DAHPdqq55dQ</dc:identifier>
</cp:coreProperties>
</file>